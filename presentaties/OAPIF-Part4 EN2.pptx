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sldIdLst>
    <p:sldId id="256" r:id="rId5"/>
    <p:sldId id="347" r:id="rId6"/>
    <p:sldId id="348" r:id="rId7"/>
    <p:sldId id="319" r:id="rId8"/>
    <p:sldId id="286" r:id="rId9"/>
    <p:sldId id="343" r:id="rId10"/>
    <p:sldId id="344" r:id="rId11"/>
    <p:sldId id="289" r:id="rId12"/>
    <p:sldId id="359" r:id="rId13"/>
    <p:sldId id="360" r:id="rId14"/>
    <p:sldId id="361" r:id="rId15"/>
    <p:sldId id="362" r:id="rId16"/>
    <p:sldId id="357" r:id="rId17"/>
    <p:sldId id="349" r:id="rId18"/>
    <p:sldId id="358" r:id="rId19"/>
    <p:sldId id="350" r:id="rId20"/>
    <p:sldId id="363" r:id="rId21"/>
    <p:sldId id="351" r:id="rId22"/>
    <p:sldId id="352" r:id="rId23"/>
    <p:sldId id="364" r:id="rId24"/>
    <p:sldId id="353" r:id="rId25"/>
    <p:sldId id="354" r:id="rId26"/>
    <p:sldId id="365" r:id="rId27"/>
    <p:sldId id="370" r:id="rId28"/>
    <p:sldId id="355" r:id="rId29"/>
    <p:sldId id="369" r:id="rId30"/>
    <p:sldId id="356" r:id="rId31"/>
    <p:sldId id="366" r:id="rId32"/>
    <p:sldId id="368" r:id="rId33"/>
    <p:sldId id="367" r:id="rId34"/>
    <p:sldId id="371" r:id="rId35"/>
    <p:sldId id="259" r:id="rId3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56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48" y="2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A0BEC-D659-49A0-BDC1-7AED8DDA2204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0CE13-1BEF-4160-AAFC-1156D47D2D2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1880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Europese datastrategie (</a:t>
            </a:r>
            <a:r>
              <a:rPr lang="nl-NL" dirty="0" err="1"/>
              <a:t>vb</a:t>
            </a:r>
            <a:r>
              <a:rPr lang="nl-NL" dirty="0"/>
              <a:t> </a:t>
            </a:r>
            <a:r>
              <a:rPr lang="nl-NL" dirty="0" err="1"/>
              <a:t>HVD’s</a:t>
            </a:r>
            <a:r>
              <a:rPr lang="nl-NL" dirty="0"/>
              <a:t> uit Open Data Directive)</a:t>
            </a:r>
          </a:p>
          <a:p>
            <a:r>
              <a:rPr lang="nl-NL" dirty="0"/>
              <a:t>Federatief Datastelsel (domein overstijgende marktplaats waar vraag en aanbod bij elkaar komen.)</a:t>
            </a:r>
          </a:p>
          <a:p>
            <a:r>
              <a:rPr lang="nl-NL" dirty="0"/>
              <a:t>Common </a:t>
            </a:r>
            <a:r>
              <a:rPr lang="nl-NL" dirty="0" err="1"/>
              <a:t>Ground</a:t>
            </a:r>
            <a:r>
              <a:rPr lang="nl-NL" dirty="0"/>
              <a:t> (informatiekundige visie VNG)</a:t>
            </a:r>
          </a:p>
          <a:p>
            <a:r>
              <a:rPr lang="nl-NL" dirty="0"/>
              <a:t>Zicht op Nederland (Visie  GI-beraad met als programma’s : datafundament (organisatie-overstijgend, multifunctioneel</a:t>
            </a:r>
          </a:p>
          <a:p>
            <a:r>
              <a:rPr lang="nl-NL" dirty="0"/>
              <a:t>gegevenslandschap) en Digital </a:t>
            </a:r>
            <a:r>
              <a:rPr lang="nl-NL" dirty="0" err="1"/>
              <a:t>Twins</a:t>
            </a:r>
            <a:r>
              <a:rPr lang="nl-NL" dirty="0"/>
              <a:t>)</a:t>
            </a:r>
          </a:p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0CE13-1BEF-4160-AAFC-1156D47D2D20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8791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onovum.nl/" TargetMode="Externa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foto standaard">
    <p:bg>
      <p:bgPr>
        <a:blipFill dpi="0" rotWithShape="1">
          <a:blip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1" name="ArtworkLogo">
            <a:extLst>
              <a:ext uri="{FF2B5EF4-FFF2-40B4-BE49-F238E27FC236}">
                <a16:creationId xmlns:a16="http://schemas.microsoft.com/office/drawing/2014/main" id="{38D7E1FD-7211-CAFB-5BBB-84396CB6C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8646DEB4-B83C-06CE-1799-0319DAC6E1F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D343DFAA-0AA6-804A-1BC4-D7EE73A5FFD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586F5B8F-BAB6-359A-977A-F4B21FD04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Ondertitel 2">
            <a:extLst>
              <a:ext uri="{FF2B5EF4-FFF2-40B4-BE49-F238E27FC236}">
                <a16:creationId xmlns:a16="http://schemas.microsoft.com/office/drawing/2014/main" id="{8ADB84C1-0763-C4DB-A204-EC688351E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graphicFrame>
        <p:nvGraphicFramePr>
          <p:cNvPr id="21" name="Tabel 20">
            <a:extLst>
              <a:ext uri="{FF2B5EF4-FFF2-40B4-BE49-F238E27FC236}">
                <a16:creationId xmlns:a16="http://schemas.microsoft.com/office/drawing/2014/main" id="{CFD40A2F-D0A7-4CCB-E288-FB61135DB7C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543509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Status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98703A2-59B0-B71A-8C7B-748F07318C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23" name="Tijdelijke aanduiding voor datum 15">
            <a:extLst>
              <a:ext uri="{FF2B5EF4-FFF2-40B4-BE49-F238E27FC236}">
                <a16:creationId xmlns:a16="http://schemas.microsoft.com/office/drawing/2014/main" id="{FDD0EF63-8153-77B2-C6BB-6D0CD7E89163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tx2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16-06-2026</a:t>
            </a:fld>
            <a:endParaRPr lang="nl-NL" dirty="0"/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662ED5E9-8B1A-4354-7259-BBB669BB9B9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2096" y="4408262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[Openbaar]</a:t>
            </a:r>
          </a:p>
        </p:txBody>
      </p:sp>
    </p:spTree>
    <p:extLst>
      <p:ext uri="{BB962C8B-B14F-4D97-AF65-F5344CB8AC3E}">
        <p14:creationId xmlns:p14="http://schemas.microsoft.com/office/powerpoint/2010/main" val="293980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757902-BA75-F83A-A9CD-4A250799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/>
            </a:lvl1pPr>
            <a:lvl2pPr marL="800100" indent="-342900">
              <a:buFont typeface="Wingdings" panose="05000000000000000000" pitchFamily="2" charset="2"/>
              <a:buChar char="§"/>
              <a:defRPr/>
            </a:lvl2pPr>
            <a:lvl3pPr marL="1257300" indent="-342900">
              <a:buFont typeface="Wingdings" panose="05000000000000000000" pitchFamily="2" charset="2"/>
              <a:buChar char="§"/>
              <a:defRPr/>
            </a:lvl3pPr>
            <a:lvl4pPr marL="1657350" indent="-285750">
              <a:buFont typeface="Wingdings" panose="05000000000000000000" pitchFamily="2" charset="2"/>
              <a:buChar char="§"/>
              <a:defRPr/>
            </a:lvl4pPr>
            <a:lvl5pPr marL="2114550" indent="-28575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16-06-2026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174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 en object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757902-BA75-F83A-A9CD-4A250799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/>
            </a:lvl1pPr>
            <a:lvl2pPr marL="800100" indent="-342900">
              <a:buFont typeface="Wingdings" panose="05000000000000000000" pitchFamily="2" charset="2"/>
              <a:buChar char="§"/>
              <a:defRPr/>
            </a:lvl2pPr>
            <a:lvl3pPr marL="1257300" indent="-342900">
              <a:buFont typeface="Wingdings" panose="05000000000000000000" pitchFamily="2" charset="2"/>
              <a:buChar char="§"/>
              <a:defRPr/>
            </a:lvl3pPr>
            <a:lvl4pPr marL="1657350" indent="-285750">
              <a:buFont typeface="Wingdings" panose="05000000000000000000" pitchFamily="2" charset="2"/>
              <a:buChar char="§"/>
              <a:defRPr/>
            </a:lvl4pPr>
            <a:lvl5pPr marL="2114550" indent="-28575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16-06-2026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B53567AC-FC92-DBF6-902D-A02E25D27B7B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rtworkLogo">
            <a:extLst>
              <a:ext uri="{FF2B5EF4-FFF2-40B4-BE49-F238E27FC236}">
                <a16:creationId xmlns:a16="http://schemas.microsoft.com/office/drawing/2014/main" id="{88EDF246-36D0-EA15-89F1-BEBAC1BC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6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foto donker">
    <p:bg>
      <p:bgPr>
        <a:blipFill dpi="0" rotWithShape="1">
          <a:blip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hoek 24">
            <a:extLst>
              <a:ext uri="{FF2B5EF4-FFF2-40B4-BE49-F238E27FC236}">
                <a16:creationId xmlns:a16="http://schemas.microsoft.com/office/drawing/2014/main" id="{16FAB6D7-3EC7-B29F-1BB0-AFCC4A37A4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B5A378-D087-E905-A9CD-E41FF608F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4457518-AC06-A099-9F3C-A25877688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2E3052D2-7619-D462-11E0-04B85514BCDC}"/>
              </a:ext>
            </a:extLst>
          </p:cNvPr>
          <p:cNvSpPr/>
          <p:nvPr/>
        </p:nvSpPr>
        <p:spPr>
          <a:xfrm>
            <a:off x="9308011" y="5109583"/>
            <a:ext cx="756398" cy="756645"/>
          </a:xfrm>
          <a:custGeom>
            <a:avLst/>
            <a:gdLst>
              <a:gd name="connsiteX0" fmla="*/ 586222 w 756398"/>
              <a:gd name="connsiteY0" fmla="*/ 0 h 756645"/>
              <a:gd name="connsiteX1" fmla="*/ 0 w 756398"/>
              <a:gd name="connsiteY1" fmla="*/ 586435 h 756645"/>
              <a:gd name="connsiteX2" fmla="*/ 0 w 756398"/>
              <a:gd name="connsiteY2" fmla="*/ 756646 h 756645"/>
              <a:gd name="connsiteX3" fmla="*/ 170189 w 756398"/>
              <a:gd name="connsiteY3" fmla="*/ 756646 h 756645"/>
              <a:gd name="connsiteX4" fmla="*/ 378206 w 756398"/>
              <a:gd name="connsiteY4" fmla="*/ 548566 h 756645"/>
              <a:gd name="connsiteX5" fmla="*/ 459213 w 756398"/>
              <a:gd name="connsiteY5" fmla="*/ 629614 h 756645"/>
              <a:gd name="connsiteX6" fmla="*/ 629405 w 756398"/>
              <a:gd name="connsiteY6" fmla="*/ 459372 h 756645"/>
              <a:gd name="connsiteX7" fmla="*/ 548380 w 756398"/>
              <a:gd name="connsiteY7" fmla="*/ 378324 h 756645"/>
              <a:gd name="connsiteX8" fmla="*/ 756398 w 756398"/>
              <a:gd name="connsiteY8" fmla="*/ 170241 h 756645"/>
              <a:gd name="connsiteX9" fmla="*/ 756398 w 756398"/>
              <a:gd name="connsiteY9" fmla="*/ 0 h 756645"/>
              <a:gd name="connsiteX10" fmla="*/ 586224 w 756398"/>
              <a:gd name="connsiteY10" fmla="*/ 0 h 756645"/>
              <a:gd name="connsiteX11" fmla="*/ 81008 w 756398"/>
              <a:gd name="connsiteY11" fmla="*/ 251291 h 756645"/>
              <a:gd name="connsiteX12" fmla="*/ 251197 w 756398"/>
              <a:gd name="connsiteY12" fmla="*/ 81048 h 756645"/>
              <a:gd name="connsiteX13" fmla="*/ 170189 w 756398"/>
              <a:gd name="connsiteY13" fmla="*/ 15 h 756645"/>
              <a:gd name="connsiteX14" fmla="*/ 170189 w 756398"/>
              <a:gd name="connsiteY14" fmla="*/ 0 h 756645"/>
              <a:gd name="connsiteX15" fmla="*/ 0 w 756398"/>
              <a:gd name="connsiteY15" fmla="*/ 0 h 756645"/>
              <a:gd name="connsiteX16" fmla="*/ 0 w 756398"/>
              <a:gd name="connsiteY16" fmla="*/ 170241 h 756645"/>
              <a:gd name="connsiteX17" fmla="*/ 81008 w 756398"/>
              <a:gd name="connsiteY17" fmla="*/ 251291 h 756645"/>
              <a:gd name="connsiteX18" fmla="*/ 756398 w 756398"/>
              <a:gd name="connsiteY18" fmla="*/ 756646 h 756645"/>
              <a:gd name="connsiteX19" fmla="*/ 756398 w 756398"/>
              <a:gd name="connsiteY19" fmla="*/ 586435 h 756645"/>
              <a:gd name="connsiteX20" fmla="*/ 586252 w 756398"/>
              <a:gd name="connsiteY20" fmla="*/ 756646 h 756645"/>
              <a:gd name="connsiteX21" fmla="*/ 756398 w 756398"/>
              <a:gd name="connsiteY21" fmla="*/ 756646 h 75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56398" h="756645">
                <a:moveTo>
                  <a:pt x="586222" y="0"/>
                </a:moveTo>
                <a:lnTo>
                  <a:pt x="0" y="586435"/>
                </a:lnTo>
                <a:lnTo>
                  <a:pt x="0" y="756646"/>
                </a:lnTo>
                <a:lnTo>
                  <a:pt x="170189" y="756646"/>
                </a:lnTo>
                <a:lnTo>
                  <a:pt x="378206" y="548566"/>
                </a:lnTo>
                <a:lnTo>
                  <a:pt x="459213" y="629614"/>
                </a:lnTo>
                <a:lnTo>
                  <a:pt x="629405" y="459372"/>
                </a:lnTo>
                <a:lnTo>
                  <a:pt x="548380" y="378324"/>
                </a:lnTo>
                <a:lnTo>
                  <a:pt x="756398" y="170241"/>
                </a:lnTo>
                <a:lnTo>
                  <a:pt x="756398" y="0"/>
                </a:lnTo>
                <a:lnTo>
                  <a:pt x="586224" y="0"/>
                </a:lnTo>
                <a:close/>
                <a:moveTo>
                  <a:pt x="81008" y="251291"/>
                </a:moveTo>
                <a:lnTo>
                  <a:pt x="251197" y="81048"/>
                </a:lnTo>
                <a:lnTo>
                  <a:pt x="170189" y="15"/>
                </a:lnTo>
                <a:lnTo>
                  <a:pt x="170189" y="0"/>
                </a:lnTo>
                <a:lnTo>
                  <a:pt x="0" y="0"/>
                </a:lnTo>
                <a:lnTo>
                  <a:pt x="0" y="170241"/>
                </a:lnTo>
                <a:lnTo>
                  <a:pt x="81008" y="251291"/>
                </a:lnTo>
                <a:close/>
                <a:moveTo>
                  <a:pt x="756398" y="756646"/>
                </a:moveTo>
                <a:lnTo>
                  <a:pt x="756398" y="586435"/>
                </a:lnTo>
                <a:lnTo>
                  <a:pt x="586252" y="756646"/>
                </a:lnTo>
                <a:lnTo>
                  <a:pt x="756398" y="756646"/>
                </a:lnTo>
                <a:close/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2290EBA2-8E2D-6DE4-0054-29203AF1659C}"/>
              </a:ext>
            </a:extLst>
          </p:cNvPr>
          <p:cNvSpPr/>
          <p:nvPr/>
        </p:nvSpPr>
        <p:spPr>
          <a:xfrm>
            <a:off x="10820794" y="5109590"/>
            <a:ext cx="756412" cy="756647"/>
          </a:xfrm>
          <a:custGeom>
            <a:avLst/>
            <a:gdLst>
              <a:gd name="connsiteX0" fmla="*/ 0 w 756412"/>
              <a:gd name="connsiteY0" fmla="*/ 0 h 756647"/>
              <a:gd name="connsiteX1" fmla="*/ 0 w 756412"/>
              <a:gd name="connsiteY1" fmla="*/ 0 h 756647"/>
              <a:gd name="connsiteX2" fmla="*/ 586223 w 756412"/>
              <a:gd name="connsiteY2" fmla="*/ 0 h 756647"/>
              <a:gd name="connsiteX3" fmla="*/ 0 w 756412"/>
              <a:gd name="connsiteY3" fmla="*/ 586435 h 756647"/>
              <a:gd name="connsiteX4" fmla="*/ 0 w 756412"/>
              <a:gd name="connsiteY4" fmla="*/ 756647 h 756647"/>
              <a:gd name="connsiteX5" fmla="*/ 170190 w 756412"/>
              <a:gd name="connsiteY5" fmla="*/ 756647 h 756647"/>
              <a:gd name="connsiteX6" fmla="*/ 463309 w 756412"/>
              <a:gd name="connsiteY6" fmla="*/ 463438 h 756647"/>
              <a:gd name="connsiteX7" fmla="*/ 756398 w 756412"/>
              <a:gd name="connsiteY7" fmla="*/ 756647 h 756647"/>
              <a:gd name="connsiteX8" fmla="*/ 756413 w 756412"/>
              <a:gd name="connsiteY8" fmla="*/ 756647 h 756647"/>
              <a:gd name="connsiteX9" fmla="*/ 756413 w 756412"/>
              <a:gd name="connsiteY9" fmla="*/ 0 h 756647"/>
              <a:gd name="connsiteX10" fmla="*/ 586223 w 756412"/>
              <a:gd name="connsiteY10" fmla="*/ 0 h 756647"/>
              <a:gd name="connsiteX11" fmla="*/ 332220 w 756412"/>
              <a:gd name="connsiteY11" fmla="*/ 0 h 756647"/>
              <a:gd name="connsiteX12" fmla="*/ 15 w 756412"/>
              <a:gd name="connsiteY12" fmla="*/ 0 h 756647"/>
              <a:gd name="connsiteX13" fmla="*/ 166125 w 756412"/>
              <a:gd name="connsiteY13" fmla="*/ 166162 h 756647"/>
              <a:gd name="connsiteX14" fmla="*/ 332220 w 756412"/>
              <a:gd name="connsiteY14" fmla="*/ 0 h 756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6412" h="756647">
                <a:moveTo>
                  <a:pt x="0" y="0"/>
                </a:moveTo>
                <a:lnTo>
                  <a:pt x="0" y="0"/>
                </a:lnTo>
                <a:close/>
                <a:moveTo>
                  <a:pt x="586223" y="0"/>
                </a:moveTo>
                <a:lnTo>
                  <a:pt x="0" y="586435"/>
                </a:lnTo>
                <a:lnTo>
                  <a:pt x="0" y="756647"/>
                </a:lnTo>
                <a:lnTo>
                  <a:pt x="170190" y="756647"/>
                </a:lnTo>
                <a:lnTo>
                  <a:pt x="463309" y="463438"/>
                </a:lnTo>
                <a:lnTo>
                  <a:pt x="756398" y="756647"/>
                </a:lnTo>
                <a:lnTo>
                  <a:pt x="756413" y="756647"/>
                </a:lnTo>
                <a:lnTo>
                  <a:pt x="756413" y="0"/>
                </a:lnTo>
                <a:lnTo>
                  <a:pt x="586223" y="0"/>
                </a:lnTo>
                <a:close/>
                <a:moveTo>
                  <a:pt x="332220" y="0"/>
                </a:moveTo>
                <a:lnTo>
                  <a:pt x="15" y="0"/>
                </a:lnTo>
                <a:lnTo>
                  <a:pt x="166125" y="166162"/>
                </a:lnTo>
                <a:lnTo>
                  <a:pt x="332220" y="0"/>
                </a:lnTo>
                <a:close/>
              </a:path>
            </a:pathLst>
          </a:custGeom>
          <a:solidFill>
            <a:srgbClr val="0086C5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DF62DE58-EDBC-170B-6165-304CC012C3C0}"/>
              </a:ext>
            </a:extLst>
          </p:cNvPr>
          <p:cNvSpPr/>
          <p:nvPr/>
        </p:nvSpPr>
        <p:spPr>
          <a:xfrm>
            <a:off x="9290892" y="6026252"/>
            <a:ext cx="198536" cy="245754"/>
          </a:xfrm>
          <a:custGeom>
            <a:avLst/>
            <a:gdLst>
              <a:gd name="connsiteX0" fmla="*/ 103821 w 198536"/>
              <a:gd name="connsiteY0" fmla="*/ 245754 h 245754"/>
              <a:gd name="connsiteX1" fmla="*/ 0 w 198536"/>
              <a:gd name="connsiteY1" fmla="*/ 127423 h 245754"/>
              <a:gd name="connsiteX2" fmla="*/ 112100 w 198536"/>
              <a:gd name="connsiteY2" fmla="*/ 0 h 245754"/>
              <a:gd name="connsiteX3" fmla="*/ 193572 w 198536"/>
              <a:gd name="connsiteY3" fmla="*/ 34748 h 245754"/>
              <a:gd name="connsiteX4" fmla="*/ 174136 w 198536"/>
              <a:gd name="connsiteY4" fmla="*/ 59158 h 245754"/>
              <a:gd name="connsiteX5" fmla="*/ 119540 w 198536"/>
              <a:gd name="connsiteY5" fmla="*/ 43030 h 245754"/>
              <a:gd name="connsiteX6" fmla="*/ 56260 w 198536"/>
              <a:gd name="connsiteY6" fmla="*/ 119561 h 245754"/>
              <a:gd name="connsiteX7" fmla="*/ 112505 w 198536"/>
              <a:gd name="connsiteY7" fmla="*/ 202740 h 245754"/>
              <a:gd name="connsiteX8" fmla="*/ 144768 w 198536"/>
              <a:gd name="connsiteY8" fmla="*/ 194458 h 245754"/>
              <a:gd name="connsiteX9" fmla="*/ 144768 w 198536"/>
              <a:gd name="connsiteY9" fmla="*/ 140251 h 245754"/>
              <a:gd name="connsiteX10" fmla="*/ 111260 w 198536"/>
              <a:gd name="connsiteY10" fmla="*/ 140251 h 245754"/>
              <a:gd name="connsiteX11" fmla="*/ 111260 w 198536"/>
              <a:gd name="connsiteY11" fmla="*/ 104678 h 245754"/>
              <a:gd name="connsiteX12" fmla="*/ 198537 w 198536"/>
              <a:gd name="connsiteY12" fmla="*/ 104678 h 245754"/>
              <a:gd name="connsiteX13" fmla="*/ 198537 w 198536"/>
              <a:gd name="connsiteY13" fmla="*/ 213902 h 245754"/>
              <a:gd name="connsiteX14" fmla="*/ 103821 w 198536"/>
              <a:gd name="connsiteY14" fmla="*/ 24575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8536" h="245754">
                <a:moveTo>
                  <a:pt x="103821" y="245754"/>
                </a:moveTo>
                <a:cubicBezTo>
                  <a:pt x="34752" y="245754"/>
                  <a:pt x="0" y="210166"/>
                  <a:pt x="0" y="127423"/>
                </a:cubicBezTo>
                <a:cubicBezTo>
                  <a:pt x="0" y="39309"/>
                  <a:pt x="50471" y="0"/>
                  <a:pt x="112100" y="0"/>
                </a:cubicBezTo>
                <a:cubicBezTo>
                  <a:pt x="147256" y="0"/>
                  <a:pt x="173714" y="14058"/>
                  <a:pt x="193572" y="34748"/>
                </a:cubicBezTo>
                <a:lnTo>
                  <a:pt x="174136" y="59158"/>
                </a:lnTo>
                <a:cubicBezTo>
                  <a:pt x="156767" y="49226"/>
                  <a:pt x="137734" y="43030"/>
                  <a:pt x="119540" y="43030"/>
                </a:cubicBezTo>
                <a:cubicBezTo>
                  <a:pt x="82313" y="43030"/>
                  <a:pt x="56260" y="70335"/>
                  <a:pt x="56260" y="119561"/>
                </a:cubicBezTo>
                <a:cubicBezTo>
                  <a:pt x="56260" y="184121"/>
                  <a:pt x="80663" y="202740"/>
                  <a:pt x="112505" y="202740"/>
                </a:cubicBezTo>
                <a:cubicBezTo>
                  <a:pt x="126574" y="202740"/>
                  <a:pt x="138152" y="199004"/>
                  <a:pt x="144768" y="194458"/>
                </a:cubicBezTo>
                <a:lnTo>
                  <a:pt x="144768" y="140251"/>
                </a:lnTo>
                <a:lnTo>
                  <a:pt x="111260" y="140251"/>
                </a:lnTo>
                <a:lnTo>
                  <a:pt x="111260" y="104678"/>
                </a:lnTo>
                <a:lnTo>
                  <a:pt x="198537" y="104678"/>
                </a:lnTo>
                <a:lnTo>
                  <a:pt x="198537" y="213902"/>
                </a:lnTo>
                <a:cubicBezTo>
                  <a:pt x="173714" y="234172"/>
                  <a:pt x="140629" y="245754"/>
                  <a:pt x="103821" y="245754"/>
                </a:cubicBezTo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074A652D-0EA5-F295-D355-4AC8A19B1DDA}"/>
              </a:ext>
            </a:extLst>
          </p:cNvPr>
          <p:cNvSpPr/>
          <p:nvPr/>
        </p:nvSpPr>
        <p:spPr>
          <a:xfrm>
            <a:off x="9569248" y="6030807"/>
            <a:ext cx="148065" cy="236645"/>
          </a:xfrm>
          <a:custGeom>
            <a:avLst/>
            <a:gdLst>
              <a:gd name="connsiteX0" fmla="*/ 0 w 148065"/>
              <a:gd name="connsiteY0" fmla="*/ 236646 h 236645"/>
              <a:gd name="connsiteX1" fmla="*/ 0 w 148065"/>
              <a:gd name="connsiteY1" fmla="*/ 0 h 236645"/>
              <a:gd name="connsiteX2" fmla="*/ 146415 w 148065"/>
              <a:gd name="connsiteY2" fmla="*/ 0 h 236645"/>
              <a:gd name="connsiteX3" fmla="*/ 146415 w 148065"/>
              <a:gd name="connsiteY3" fmla="*/ 42204 h 236645"/>
              <a:gd name="connsiteX4" fmla="*/ 55014 w 148065"/>
              <a:gd name="connsiteY4" fmla="*/ 42204 h 236645"/>
              <a:gd name="connsiteX5" fmla="*/ 55014 w 148065"/>
              <a:gd name="connsiteY5" fmla="*/ 96395 h 236645"/>
              <a:gd name="connsiteX6" fmla="*/ 131522 w 148065"/>
              <a:gd name="connsiteY6" fmla="*/ 96395 h 236645"/>
              <a:gd name="connsiteX7" fmla="*/ 131522 w 148065"/>
              <a:gd name="connsiteY7" fmla="*/ 136110 h 236645"/>
              <a:gd name="connsiteX8" fmla="*/ 55014 w 148065"/>
              <a:gd name="connsiteY8" fmla="*/ 136110 h 236645"/>
              <a:gd name="connsiteX9" fmla="*/ 55014 w 148065"/>
              <a:gd name="connsiteY9" fmla="*/ 193618 h 236645"/>
              <a:gd name="connsiteX10" fmla="*/ 148065 w 148065"/>
              <a:gd name="connsiteY10" fmla="*/ 193618 h 236645"/>
              <a:gd name="connsiteX11" fmla="*/ 148065 w 148065"/>
              <a:gd name="connsiteY11" fmla="*/ 236646 h 236645"/>
              <a:gd name="connsiteX12" fmla="*/ 0 w 148065"/>
              <a:gd name="connsiteY12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065" h="236645">
                <a:moveTo>
                  <a:pt x="0" y="236646"/>
                </a:moveTo>
                <a:lnTo>
                  <a:pt x="0" y="0"/>
                </a:lnTo>
                <a:lnTo>
                  <a:pt x="146415" y="0"/>
                </a:lnTo>
                <a:lnTo>
                  <a:pt x="146415" y="42204"/>
                </a:lnTo>
                <a:lnTo>
                  <a:pt x="55014" y="42204"/>
                </a:lnTo>
                <a:lnTo>
                  <a:pt x="55014" y="96395"/>
                </a:lnTo>
                <a:lnTo>
                  <a:pt x="131522" y="96395"/>
                </a:lnTo>
                <a:lnTo>
                  <a:pt x="131522" y="136110"/>
                </a:lnTo>
                <a:lnTo>
                  <a:pt x="55014" y="136110"/>
                </a:lnTo>
                <a:lnTo>
                  <a:pt x="55014" y="193618"/>
                </a:lnTo>
                <a:lnTo>
                  <a:pt x="148065" y="193618"/>
                </a:lnTo>
                <a:lnTo>
                  <a:pt x="148065" y="236646"/>
                </a:lnTo>
                <a:lnTo>
                  <a:pt x="0" y="236646"/>
                </a:lnTo>
                <a:close/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5FAEC22B-27B5-0C44-848E-174383106CF4}"/>
              </a:ext>
            </a:extLst>
          </p:cNvPr>
          <p:cNvSpPr/>
          <p:nvPr/>
        </p:nvSpPr>
        <p:spPr>
          <a:xfrm>
            <a:off x="9771094" y="6026246"/>
            <a:ext cx="232029" cy="245754"/>
          </a:xfrm>
          <a:custGeom>
            <a:avLst/>
            <a:gdLst>
              <a:gd name="connsiteX0" fmla="*/ 112925 w 232029"/>
              <a:gd name="connsiteY0" fmla="*/ 245754 h 245754"/>
              <a:gd name="connsiteX1" fmla="*/ 0 w 232029"/>
              <a:gd name="connsiteY1" fmla="*/ 125773 h 245754"/>
              <a:gd name="connsiteX2" fmla="*/ 119119 w 232029"/>
              <a:gd name="connsiteY2" fmla="*/ 0 h 245754"/>
              <a:gd name="connsiteX3" fmla="*/ 232029 w 232029"/>
              <a:gd name="connsiteY3" fmla="*/ 117911 h 245754"/>
              <a:gd name="connsiteX4" fmla="*/ 112925 w 232029"/>
              <a:gd name="connsiteY4" fmla="*/ 245754 h 245754"/>
              <a:gd name="connsiteX5" fmla="*/ 114155 w 232029"/>
              <a:gd name="connsiteY5" fmla="*/ 42204 h 245754"/>
              <a:gd name="connsiteX6" fmla="*/ 58315 w 232029"/>
              <a:gd name="connsiteY6" fmla="*/ 118331 h 245754"/>
              <a:gd name="connsiteX7" fmla="*/ 117050 w 232029"/>
              <a:gd name="connsiteY7" fmla="*/ 203145 h 245754"/>
              <a:gd name="connsiteX8" fmla="*/ 173714 w 232029"/>
              <a:gd name="connsiteY8" fmla="*/ 125368 h 245754"/>
              <a:gd name="connsiteX9" fmla="*/ 114155 w 232029"/>
              <a:gd name="connsiteY9" fmla="*/ 4220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029" h="245754">
                <a:moveTo>
                  <a:pt x="112925" y="245754"/>
                </a:moveTo>
                <a:cubicBezTo>
                  <a:pt x="42191" y="245754"/>
                  <a:pt x="0" y="215148"/>
                  <a:pt x="0" y="125773"/>
                </a:cubicBezTo>
                <a:cubicBezTo>
                  <a:pt x="0" y="39309"/>
                  <a:pt x="49226" y="0"/>
                  <a:pt x="119119" y="0"/>
                </a:cubicBezTo>
                <a:cubicBezTo>
                  <a:pt x="191083" y="0"/>
                  <a:pt x="232029" y="33097"/>
                  <a:pt x="232029" y="117911"/>
                </a:cubicBezTo>
                <a:cubicBezTo>
                  <a:pt x="232029" y="212252"/>
                  <a:pt x="177434" y="245754"/>
                  <a:pt x="112925" y="245754"/>
                </a:cubicBezTo>
                <a:moveTo>
                  <a:pt x="114155" y="42204"/>
                </a:moveTo>
                <a:cubicBezTo>
                  <a:pt x="81893" y="42204"/>
                  <a:pt x="58315" y="62894"/>
                  <a:pt x="58315" y="118331"/>
                </a:cubicBezTo>
                <a:cubicBezTo>
                  <a:pt x="58315" y="182050"/>
                  <a:pt x="79823" y="203145"/>
                  <a:pt x="117050" y="203145"/>
                </a:cubicBezTo>
                <a:cubicBezTo>
                  <a:pt x="150137" y="203145"/>
                  <a:pt x="173714" y="182455"/>
                  <a:pt x="173714" y="125368"/>
                </a:cubicBezTo>
                <a:cubicBezTo>
                  <a:pt x="173714" y="64139"/>
                  <a:pt x="152206" y="42204"/>
                  <a:pt x="114155" y="42204"/>
                </a:cubicBezTo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FFA13B9D-AF5C-670C-1F19-ED37017F557C}"/>
              </a:ext>
            </a:extLst>
          </p:cNvPr>
          <p:cNvSpPr/>
          <p:nvPr/>
        </p:nvSpPr>
        <p:spPr>
          <a:xfrm>
            <a:off x="10072376" y="6030807"/>
            <a:ext cx="209696" cy="236645"/>
          </a:xfrm>
          <a:custGeom>
            <a:avLst/>
            <a:gdLst>
              <a:gd name="connsiteX0" fmla="*/ 150962 w 209696"/>
              <a:gd name="connsiteY0" fmla="*/ 236646 h 236645"/>
              <a:gd name="connsiteX1" fmla="*/ 45911 w 209696"/>
              <a:gd name="connsiteY1" fmla="*/ 69915 h 236645"/>
              <a:gd name="connsiteX2" fmla="*/ 45911 w 209696"/>
              <a:gd name="connsiteY2" fmla="*/ 236646 h 236645"/>
              <a:gd name="connsiteX3" fmla="*/ 0 w 209696"/>
              <a:gd name="connsiteY3" fmla="*/ 236646 h 236645"/>
              <a:gd name="connsiteX4" fmla="*/ 0 w 209696"/>
              <a:gd name="connsiteY4" fmla="*/ 0 h 236645"/>
              <a:gd name="connsiteX5" fmla="*/ 68649 w 209696"/>
              <a:gd name="connsiteY5" fmla="*/ 0 h 236645"/>
              <a:gd name="connsiteX6" fmla="*/ 164190 w 209696"/>
              <a:gd name="connsiteY6" fmla="*/ 146042 h 236645"/>
              <a:gd name="connsiteX7" fmla="*/ 164190 w 209696"/>
              <a:gd name="connsiteY7" fmla="*/ 0 h 236645"/>
              <a:gd name="connsiteX8" fmla="*/ 209696 w 209696"/>
              <a:gd name="connsiteY8" fmla="*/ 0 h 236645"/>
              <a:gd name="connsiteX9" fmla="*/ 209696 w 209696"/>
              <a:gd name="connsiteY9" fmla="*/ 236646 h 236645"/>
              <a:gd name="connsiteX10" fmla="*/ 150962 w 209696"/>
              <a:gd name="connsiteY10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9696" h="236645">
                <a:moveTo>
                  <a:pt x="150962" y="236646"/>
                </a:moveTo>
                <a:lnTo>
                  <a:pt x="45911" y="69915"/>
                </a:lnTo>
                <a:lnTo>
                  <a:pt x="45911" y="236646"/>
                </a:lnTo>
                <a:lnTo>
                  <a:pt x="0" y="236646"/>
                </a:lnTo>
                <a:lnTo>
                  <a:pt x="0" y="0"/>
                </a:lnTo>
                <a:lnTo>
                  <a:pt x="68649" y="0"/>
                </a:lnTo>
                <a:lnTo>
                  <a:pt x="164190" y="146042"/>
                </a:lnTo>
                <a:lnTo>
                  <a:pt x="164190" y="0"/>
                </a:lnTo>
                <a:lnTo>
                  <a:pt x="209696" y="0"/>
                </a:lnTo>
                <a:lnTo>
                  <a:pt x="209696" y="236646"/>
                </a:lnTo>
                <a:lnTo>
                  <a:pt x="150962" y="23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B7E54905-3714-2A5F-7274-5F3435008768}"/>
              </a:ext>
            </a:extLst>
          </p:cNvPr>
          <p:cNvSpPr/>
          <p:nvPr/>
        </p:nvSpPr>
        <p:spPr>
          <a:xfrm>
            <a:off x="10370159" y="6026246"/>
            <a:ext cx="232029" cy="245754"/>
          </a:xfrm>
          <a:custGeom>
            <a:avLst/>
            <a:gdLst>
              <a:gd name="connsiteX0" fmla="*/ 112910 w 232029"/>
              <a:gd name="connsiteY0" fmla="*/ 245754 h 245754"/>
              <a:gd name="connsiteX1" fmla="*/ 0 w 232029"/>
              <a:gd name="connsiteY1" fmla="*/ 125773 h 245754"/>
              <a:gd name="connsiteX2" fmla="*/ 119119 w 232029"/>
              <a:gd name="connsiteY2" fmla="*/ 0 h 245754"/>
              <a:gd name="connsiteX3" fmla="*/ 232029 w 232029"/>
              <a:gd name="connsiteY3" fmla="*/ 117911 h 245754"/>
              <a:gd name="connsiteX4" fmla="*/ 112910 w 232029"/>
              <a:gd name="connsiteY4" fmla="*/ 245754 h 245754"/>
              <a:gd name="connsiteX5" fmla="*/ 114155 w 232029"/>
              <a:gd name="connsiteY5" fmla="*/ 42204 h 245754"/>
              <a:gd name="connsiteX6" fmla="*/ 58330 w 232029"/>
              <a:gd name="connsiteY6" fmla="*/ 118331 h 245754"/>
              <a:gd name="connsiteX7" fmla="*/ 117050 w 232029"/>
              <a:gd name="connsiteY7" fmla="*/ 203145 h 245754"/>
              <a:gd name="connsiteX8" fmla="*/ 173715 w 232029"/>
              <a:gd name="connsiteY8" fmla="*/ 125368 h 245754"/>
              <a:gd name="connsiteX9" fmla="*/ 114155 w 232029"/>
              <a:gd name="connsiteY9" fmla="*/ 4220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029" h="245754">
                <a:moveTo>
                  <a:pt x="112910" y="245754"/>
                </a:moveTo>
                <a:cubicBezTo>
                  <a:pt x="42191" y="245754"/>
                  <a:pt x="0" y="215148"/>
                  <a:pt x="0" y="125773"/>
                </a:cubicBezTo>
                <a:cubicBezTo>
                  <a:pt x="0" y="39309"/>
                  <a:pt x="49226" y="0"/>
                  <a:pt x="119119" y="0"/>
                </a:cubicBezTo>
                <a:cubicBezTo>
                  <a:pt x="191083" y="0"/>
                  <a:pt x="232029" y="33097"/>
                  <a:pt x="232029" y="117911"/>
                </a:cubicBezTo>
                <a:cubicBezTo>
                  <a:pt x="232029" y="212252"/>
                  <a:pt x="177434" y="245754"/>
                  <a:pt x="112910" y="245754"/>
                </a:cubicBezTo>
                <a:moveTo>
                  <a:pt x="114155" y="42204"/>
                </a:moveTo>
                <a:cubicBezTo>
                  <a:pt x="81893" y="42204"/>
                  <a:pt x="58330" y="62894"/>
                  <a:pt x="58330" y="118331"/>
                </a:cubicBezTo>
                <a:cubicBezTo>
                  <a:pt x="58330" y="182050"/>
                  <a:pt x="79823" y="203145"/>
                  <a:pt x="117050" y="203145"/>
                </a:cubicBezTo>
                <a:cubicBezTo>
                  <a:pt x="150152" y="203145"/>
                  <a:pt x="173715" y="182455"/>
                  <a:pt x="173715" y="125368"/>
                </a:cubicBezTo>
                <a:cubicBezTo>
                  <a:pt x="173715" y="64139"/>
                  <a:pt x="152206" y="42204"/>
                  <a:pt x="114155" y="42204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4785C39B-D6D8-2871-966A-115AC70143AE}"/>
              </a:ext>
            </a:extLst>
          </p:cNvPr>
          <p:cNvSpPr/>
          <p:nvPr/>
        </p:nvSpPr>
        <p:spPr>
          <a:xfrm>
            <a:off x="10662602" y="6030807"/>
            <a:ext cx="220856" cy="236645"/>
          </a:xfrm>
          <a:custGeom>
            <a:avLst/>
            <a:gdLst>
              <a:gd name="connsiteX0" fmla="*/ 145579 w 220856"/>
              <a:gd name="connsiteY0" fmla="*/ 236646 h 236645"/>
              <a:gd name="connsiteX1" fmla="*/ 78158 w 220856"/>
              <a:gd name="connsiteY1" fmla="*/ 236646 h 236645"/>
              <a:gd name="connsiteX2" fmla="*/ 0 w 220856"/>
              <a:gd name="connsiteY2" fmla="*/ 0 h 236645"/>
              <a:gd name="connsiteX3" fmla="*/ 61210 w 220856"/>
              <a:gd name="connsiteY3" fmla="*/ 0 h 236645"/>
              <a:gd name="connsiteX4" fmla="*/ 116211 w 220856"/>
              <a:gd name="connsiteY4" fmla="*/ 187406 h 236645"/>
              <a:gd name="connsiteX5" fmla="*/ 116631 w 220856"/>
              <a:gd name="connsiteY5" fmla="*/ 187406 h 236645"/>
              <a:gd name="connsiteX6" fmla="*/ 166262 w 220856"/>
              <a:gd name="connsiteY6" fmla="*/ 0 h 236645"/>
              <a:gd name="connsiteX7" fmla="*/ 220857 w 220856"/>
              <a:gd name="connsiteY7" fmla="*/ 0 h 236645"/>
              <a:gd name="connsiteX8" fmla="*/ 145579 w 220856"/>
              <a:gd name="connsiteY8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56" h="236645">
                <a:moveTo>
                  <a:pt x="145579" y="236646"/>
                </a:moveTo>
                <a:lnTo>
                  <a:pt x="78158" y="236646"/>
                </a:lnTo>
                <a:cubicBezTo>
                  <a:pt x="43421" y="155149"/>
                  <a:pt x="19830" y="79848"/>
                  <a:pt x="0" y="0"/>
                </a:cubicBezTo>
                <a:lnTo>
                  <a:pt x="61210" y="0"/>
                </a:lnTo>
                <a:cubicBezTo>
                  <a:pt x="74438" y="60808"/>
                  <a:pt x="93052" y="122457"/>
                  <a:pt x="116211" y="187406"/>
                </a:cubicBezTo>
                <a:lnTo>
                  <a:pt x="116631" y="187406"/>
                </a:lnTo>
                <a:cubicBezTo>
                  <a:pt x="138139" y="125351"/>
                  <a:pt x="153858" y="63299"/>
                  <a:pt x="166262" y="0"/>
                </a:cubicBezTo>
                <a:lnTo>
                  <a:pt x="220857" y="0"/>
                </a:lnTo>
                <a:cubicBezTo>
                  <a:pt x="203068" y="79427"/>
                  <a:pt x="178666" y="160100"/>
                  <a:pt x="145579" y="236646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3BD1466B-D90A-B56A-D2E8-ABECC1BE9674}"/>
              </a:ext>
            </a:extLst>
          </p:cNvPr>
          <p:cNvSpPr/>
          <p:nvPr/>
        </p:nvSpPr>
        <p:spPr>
          <a:xfrm>
            <a:off x="10960372" y="6030798"/>
            <a:ext cx="210116" cy="241208"/>
          </a:xfrm>
          <a:custGeom>
            <a:avLst/>
            <a:gdLst>
              <a:gd name="connsiteX0" fmla="*/ 100926 w 210116"/>
              <a:gd name="connsiteY0" fmla="*/ 241208 h 241208"/>
              <a:gd name="connsiteX1" fmla="*/ 0 w 210116"/>
              <a:gd name="connsiteY1" fmla="*/ 148533 h 241208"/>
              <a:gd name="connsiteX2" fmla="*/ 0 w 210116"/>
              <a:gd name="connsiteY2" fmla="*/ 0 h 241208"/>
              <a:gd name="connsiteX3" fmla="*/ 55015 w 210116"/>
              <a:gd name="connsiteY3" fmla="*/ 0 h 241208"/>
              <a:gd name="connsiteX4" fmla="*/ 55015 w 210116"/>
              <a:gd name="connsiteY4" fmla="*/ 142322 h 241208"/>
              <a:gd name="connsiteX5" fmla="*/ 105471 w 210116"/>
              <a:gd name="connsiteY5" fmla="*/ 201495 h 241208"/>
              <a:gd name="connsiteX6" fmla="*/ 155941 w 210116"/>
              <a:gd name="connsiteY6" fmla="*/ 145637 h 241208"/>
              <a:gd name="connsiteX7" fmla="*/ 155941 w 210116"/>
              <a:gd name="connsiteY7" fmla="*/ 0 h 241208"/>
              <a:gd name="connsiteX8" fmla="*/ 210116 w 210116"/>
              <a:gd name="connsiteY8" fmla="*/ 0 h 241208"/>
              <a:gd name="connsiteX9" fmla="*/ 210116 w 210116"/>
              <a:gd name="connsiteY9" fmla="*/ 142322 h 241208"/>
              <a:gd name="connsiteX10" fmla="*/ 100926 w 210116"/>
              <a:gd name="connsiteY10" fmla="*/ 241208 h 24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0116" h="241208">
                <a:moveTo>
                  <a:pt x="100926" y="241208"/>
                </a:moveTo>
                <a:cubicBezTo>
                  <a:pt x="35157" y="241208"/>
                  <a:pt x="0" y="213497"/>
                  <a:pt x="0" y="148533"/>
                </a:cubicBezTo>
                <a:lnTo>
                  <a:pt x="0" y="0"/>
                </a:lnTo>
                <a:lnTo>
                  <a:pt x="55015" y="0"/>
                </a:lnTo>
                <a:lnTo>
                  <a:pt x="55015" y="142322"/>
                </a:lnTo>
                <a:cubicBezTo>
                  <a:pt x="55015" y="184526"/>
                  <a:pt x="71139" y="201495"/>
                  <a:pt x="105471" y="201495"/>
                </a:cubicBezTo>
                <a:cubicBezTo>
                  <a:pt x="136908" y="201495"/>
                  <a:pt x="155941" y="186596"/>
                  <a:pt x="155941" y="145637"/>
                </a:cubicBezTo>
                <a:lnTo>
                  <a:pt x="155941" y="0"/>
                </a:lnTo>
                <a:lnTo>
                  <a:pt x="210116" y="0"/>
                </a:lnTo>
                <a:lnTo>
                  <a:pt x="210116" y="142322"/>
                </a:lnTo>
                <a:cubicBezTo>
                  <a:pt x="210116" y="212252"/>
                  <a:pt x="164625" y="241208"/>
                  <a:pt x="100926" y="241208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03D7E4D5-3EE6-0749-BFA6-7BA5DC89CBE8}"/>
              </a:ext>
            </a:extLst>
          </p:cNvPr>
          <p:cNvSpPr/>
          <p:nvPr/>
        </p:nvSpPr>
        <p:spPr>
          <a:xfrm>
            <a:off x="11265204" y="6030807"/>
            <a:ext cx="303167" cy="236645"/>
          </a:xfrm>
          <a:custGeom>
            <a:avLst/>
            <a:gdLst>
              <a:gd name="connsiteX0" fmla="*/ 246098 w 303167"/>
              <a:gd name="connsiteY0" fmla="*/ 236646 h 236645"/>
              <a:gd name="connsiteX1" fmla="*/ 233259 w 303167"/>
              <a:gd name="connsiteY1" fmla="*/ 59158 h 236645"/>
              <a:gd name="connsiteX2" fmla="*/ 232869 w 303167"/>
              <a:gd name="connsiteY2" fmla="*/ 59158 h 236645"/>
              <a:gd name="connsiteX3" fmla="*/ 169980 w 303167"/>
              <a:gd name="connsiteY3" fmla="*/ 236646 h 236645"/>
              <a:gd name="connsiteX4" fmla="*/ 124489 w 303167"/>
              <a:gd name="connsiteY4" fmla="*/ 236646 h 236645"/>
              <a:gd name="connsiteX5" fmla="*/ 63279 w 303167"/>
              <a:gd name="connsiteY5" fmla="*/ 59578 h 236645"/>
              <a:gd name="connsiteX6" fmla="*/ 62844 w 303167"/>
              <a:gd name="connsiteY6" fmla="*/ 59578 h 236645"/>
              <a:gd name="connsiteX7" fmla="*/ 52525 w 303167"/>
              <a:gd name="connsiteY7" fmla="*/ 236646 h 236645"/>
              <a:gd name="connsiteX8" fmla="*/ 0 w 303167"/>
              <a:gd name="connsiteY8" fmla="*/ 236646 h 236645"/>
              <a:gd name="connsiteX9" fmla="*/ 22333 w 303167"/>
              <a:gd name="connsiteY9" fmla="*/ 0 h 236645"/>
              <a:gd name="connsiteX10" fmla="*/ 94717 w 303167"/>
              <a:gd name="connsiteY10" fmla="*/ 0 h 236645"/>
              <a:gd name="connsiteX11" fmla="*/ 151786 w 303167"/>
              <a:gd name="connsiteY11" fmla="*/ 158450 h 236645"/>
              <a:gd name="connsiteX12" fmla="*/ 152206 w 303167"/>
              <a:gd name="connsiteY12" fmla="*/ 158450 h 236645"/>
              <a:gd name="connsiteX13" fmla="*/ 211766 w 303167"/>
              <a:gd name="connsiteY13" fmla="*/ 0 h 236645"/>
              <a:gd name="connsiteX14" fmla="*/ 281255 w 303167"/>
              <a:gd name="connsiteY14" fmla="*/ 0 h 236645"/>
              <a:gd name="connsiteX15" fmla="*/ 303168 w 303167"/>
              <a:gd name="connsiteY15" fmla="*/ 236646 h 236645"/>
              <a:gd name="connsiteX16" fmla="*/ 246098 w 303167"/>
              <a:gd name="connsiteY16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3167" h="236645">
                <a:moveTo>
                  <a:pt x="246098" y="236646"/>
                </a:moveTo>
                <a:cubicBezTo>
                  <a:pt x="244853" y="174173"/>
                  <a:pt x="239469" y="112540"/>
                  <a:pt x="233259" y="59158"/>
                </a:cubicBezTo>
                <a:lnTo>
                  <a:pt x="232869" y="59158"/>
                </a:lnTo>
                <a:lnTo>
                  <a:pt x="169980" y="236646"/>
                </a:lnTo>
                <a:lnTo>
                  <a:pt x="124489" y="236646"/>
                </a:lnTo>
                <a:lnTo>
                  <a:pt x="63279" y="59578"/>
                </a:lnTo>
                <a:lnTo>
                  <a:pt x="62844" y="59578"/>
                </a:lnTo>
                <a:cubicBezTo>
                  <a:pt x="57070" y="112540"/>
                  <a:pt x="53350" y="174173"/>
                  <a:pt x="52525" y="236646"/>
                </a:cubicBezTo>
                <a:lnTo>
                  <a:pt x="0" y="236646"/>
                </a:lnTo>
                <a:cubicBezTo>
                  <a:pt x="2490" y="158045"/>
                  <a:pt x="9914" y="78182"/>
                  <a:pt x="22333" y="0"/>
                </a:cubicBezTo>
                <a:lnTo>
                  <a:pt x="94717" y="0"/>
                </a:lnTo>
                <a:lnTo>
                  <a:pt x="151786" y="158450"/>
                </a:lnTo>
                <a:lnTo>
                  <a:pt x="152206" y="158450"/>
                </a:lnTo>
                <a:lnTo>
                  <a:pt x="211766" y="0"/>
                </a:lnTo>
                <a:lnTo>
                  <a:pt x="281255" y="0"/>
                </a:lnTo>
                <a:cubicBezTo>
                  <a:pt x="292009" y="78182"/>
                  <a:pt x="299433" y="158045"/>
                  <a:pt x="303168" y="236646"/>
                </a:cubicBezTo>
                <a:lnTo>
                  <a:pt x="246098" y="23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38C502D0-B4B8-F48B-83A5-0356E3E50B16}"/>
              </a:ext>
            </a:extLst>
          </p:cNvPr>
          <p:cNvSpPr/>
          <p:nvPr/>
        </p:nvSpPr>
        <p:spPr>
          <a:xfrm>
            <a:off x="10064410" y="5109583"/>
            <a:ext cx="756399" cy="756645"/>
          </a:xfrm>
          <a:custGeom>
            <a:avLst/>
            <a:gdLst>
              <a:gd name="connsiteX0" fmla="*/ 586221 w 756399"/>
              <a:gd name="connsiteY0" fmla="*/ 0 h 756645"/>
              <a:gd name="connsiteX1" fmla="*/ 0 w 756399"/>
              <a:gd name="connsiteY1" fmla="*/ 586435 h 756645"/>
              <a:gd name="connsiteX2" fmla="*/ 0 w 756399"/>
              <a:gd name="connsiteY2" fmla="*/ 756646 h 756645"/>
              <a:gd name="connsiteX3" fmla="*/ 332219 w 756399"/>
              <a:gd name="connsiteY3" fmla="*/ 756646 h 756645"/>
              <a:gd name="connsiteX4" fmla="*/ 756399 w 756399"/>
              <a:gd name="connsiteY4" fmla="*/ 332323 h 756645"/>
              <a:gd name="connsiteX5" fmla="*/ 756399 w 756399"/>
              <a:gd name="connsiteY5" fmla="*/ 0 h 756645"/>
              <a:gd name="connsiteX6" fmla="*/ 586221 w 756399"/>
              <a:gd name="connsiteY6" fmla="*/ 0 h 756645"/>
              <a:gd name="connsiteX7" fmla="*/ 0 w 756399"/>
              <a:gd name="connsiteY7" fmla="*/ 0 h 756645"/>
              <a:gd name="connsiteX8" fmla="*/ 0 w 756399"/>
              <a:gd name="connsiteY8" fmla="*/ 332338 h 756645"/>
              <a:gd name="connsiteX9" fmla="*/ 332204 w 756399"/>
              <a:gd name="connsiteY9" fmla="*/ 0 h 756645"/>
              <a:gd name="connsiteX10" fmla="*/ 0 w 756399"/>
              <a:gd name="connsiteY10" fmla="*/ 0 h 756645"/>
              <a:gd name="connsiteX11" fmla="*/ 756399 w 756399"/>
              <a:gd name="connsiteY11" fmla="*/ 756646 h 756645"/>
              <a:gd name="connsiteX12" fmla="*/ 756399 w 756399"/>
              <a:gd name="connsiteY12" fmla="*/ 586435 h 756645"/>
              <a:gd name="connsiteX13" fmla="*/ 586251 w 756399"/>
              <a:gd name="connsiteY13" fmla="*/ 756646 h 756645"/>
              <a:gd name="connsiteX14" fmla="*/ 756399 w 756399"/>
              <a:gd name="connsiteY14" fmla="*/ 756646 h 75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6399" h="756645">
                <a:moveTo>
                  <a:pt x="586221" y="0"/>
                </a:moveTo>
                <a:lnTo>
                  <a:pt x="0" y="586435"/>
                </a:lnTo>
                <a:lnTo>
                  <a:pt x="0" y="756646"/>
                </a:lnTo>
                <a:lnTo>
                  <a:pt x="332219" y="756646"/>
                </a:lnTo>
                <a:lnTo>
                  <a:pt x="756399" y="332323"/>
                </a:lnTo>
                <a:lnTo>
                  <a:pt x="756399" y="0"/>
                </a:lnTo>
                <a:lnTo>
                  <a:pt x="586221" y="0"/>
                </a:lnTo>
                <a:close/>
                <a:moveTo>
                  <a:pt x="0" y="0"/>
                </a:moveTo>
                <a:lnTo>
                  <a:pt x="0" y="332338"/>
                </a:lnTo>
                <a:lnTo>
                  <a:pt x="332204" y="0"/>
                </a:lnTo>
                <a:lnTo>
                  <a:pt x="0" y="0"/>
                </a:lnTo>
                <a:close/>
                <a:moveTo>
                  <a:pt x="756399" y="756646"/>
                </a:moveTo>
                <a:lnTo>
                  <a:pt x="756399" y="586435"/>
                </a:lnTo>
                <a:lnTo>
                  <a:pt x="586251" y="756646"/>
                </a:lnTo>
                <a:lnTo>
                  <a:pt x="756399" y="75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aphicFrame>
        <p:nvGraphicFramePr>
          <p:cNvPr id="12" name="Tabel 11">
            <a:extLst>
              <a:ext uri="{FF2B5EF4-FFF2-40B4-BE49-F238E27FC236}">
                <a16:creationId xmlns:a16="http://schemas.microsoft.com/office/drawing/2014/main" id="{81FD4CB5-3167-082F-8D85-CA01E847436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63033610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endParaRPr lang="nl-NL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F808714-911C-A469-23CF-4FEE04047C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16" name="Tijdelijke aanduiding voor datum 15">
            <a:extLst>
              <a:ext uri="{FF2B5EF4-FFF2-40B4-BE49-F238E27FC236}">
                <a16:creationId xmlns:a16="http://schemas.microsoft.com/office/drawing/2014/main" id="{8F2794E4-629D-DAEA-7AEE-1DC722F30A35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16-06-2026</a:t>
            </a:fld>
            <a:endParaRPr lang="nl-NL" dirty="0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8646DEB4-B83C-06CE-1799-0319DAC6E1F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411186" y="6863442"/>
            <a:ext cx="8588828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D343DFAA-0AA6-804A-1BC4-D7EE73A5FFD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119757" y="6863442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0114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foto lichter">
    <p:bg>
      <p:bgPr>
        <a:blipFill dpi="0" rotWithShape="1">
          <a:blip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hoek 16">
            <a:extLst>
              <a:ext uri="{FF2B5EF4-FFF2-40B4-BE49-F238E27FC236}">
                <a16:creationId xmlns:a16="http://schemas.microsoft.com/office/drawing/2014/main" id="{5509B7C7-5037-12EB-2D66-C5F3D14696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1" name="ArtworkLogo">
            <a:extLst>
              <a:ext uri="{FF2B5EF4-FFF2-40B4-BE49-F238E27FC236}">
                <a16:creationId xmlns:a16="http://schemas.microsoft.com/office/drawing/2014/main" id="{38D7E1FD-7211-CAFB-5BBB-84396CB6C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039E0F1-48CC-FF77-2B9F-F114BA527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597E7F16-E22E-5F37-411D-943E40470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18716C2A-073D-16EF-4885-E0AD11F5BBF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06617146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C23177D5-467B-5ED9-E89C-75F22ECC05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6F841BB-C5FE-4709-DC70-04383DC7E4A8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6602096" y="4127886"/>
            <a:ext cx="1981596" cy="184616"/>
          </a:xfrm>
        </p:spPr>
        <p:txBody>
          <a:bodyPr/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fld id="{002A0C75-8C73-4BC2-A110-8B70C26DE224}" type="datetime1">
              <a:rPr lang="nl-NL" smtClean="0"/>
              <a:pPr/>
              <a:t>16-06-2026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C58BC21-08B5-9740-1E7D-0B157197D2FC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2411187" y="6927292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8572001-2FAD-178C-FEBB-1598D2C9FA1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085198" y="6927292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4048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zonder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E88A44-0518-7593-2358-9798869F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63443"/>
            <a:ext cx="8588828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E47005-03CE-1172-0884-71CE6F5D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65861"/>
            <a:ext cx="768135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648B885-FF76-47CB-8BBD-27E7EBF07CA9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0" name="ArtworkLogo">
            <a:extLst>
              <a:ext uri="{FF2B5EF4-FFF2-40B4-BE49-F238E27FC236}">
                <a16:creationId xmlns:a16="http://schemas.microsoft.com/office/drawing/2014/main" id="{194D9AE6-EEA9-67DA-1E28-74BBFD1DB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124A8B8A-5A12-77BC-D52C-3D92C108C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3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844E863F-F9EF-7570-3F26-F8FBEC0B2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AA9BA80B-FC9C-A07E-26AC-C724F6640AA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4564836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Status</a:t>
                      </a:r>
                      <a:endParaRPr lang="nl-NL" sz="1400" b="1" dirty="0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6436DDAC-09F2-5DB1-A9D5-31E000C2BE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15" name="Tijdelijke aanduiding voor datum 15">
            <a:extLst>
              <a:ext uri="{FF2B5EF4-FFF2-40B4-BE49-F238E27FC236}">
                <a16:creationId xmlns:a16="http://schemas.microsoft.com/office/drawing/2014/main" id="{8B674381-211C-FF9F-C574-A4844D268B57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tx2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16-06-2026</a:t>
            </a:fld>
            <a:endParaRPr lang="nl-NL" dirty="0"/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465BD4F6-E566-373F-AA82-95B04BC4D7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2096" y="4408262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[Openbaar]</a:t>
            </a:r>
          </a:p>
        </p:txBody>
      </p:sp>
    </p:spTree>
    <p:extLst>
      <p:ext uri="{BB962C8B-B14F-4D97-AF65-F5344CB8AC3E}">
        <p14:creationId xmlns:p14="http://schemas.microsoft.com/office/powerpoint/2010/main" val="129570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gro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16-06-2026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126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grij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16-06-2026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2819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blau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16-06-2026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21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F7909C5-632E-90BD-3A91-D79DFB8F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464" y="1529616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F211-4CA0-46C3-BAC9-237EE5A60786}" type="datetime1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750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 r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5187706"/>
          </a:xfrm>
        </p:spPr>
        <p:txBody>
          <a:bodyPr r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53862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53862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53862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4266137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464" y="1"/>
            <a:ext cx="5651499" cy="1280159"/>
          </a:xfrm>
        </p:spPr>
        <p:txBody>
          <a:bodyPr l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0463" y="1520825"/>
            <a:ext cx="5651500" cy="4932363"/>
          </a:xfrm>
        </p:spPr>
        <p:txBody>
          <a:bodyPr l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09900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09900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9FB750C7-4805-0ECC-3FA0-D2C3B87801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70231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Inhoud van twee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F7909C5-632E-90BD-3A91-D79DFB8F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464" y="1520824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F211-4CA0-46C3-BAC9-237EE5A60786}" type="datetime1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AA4B9750-6228-FC32-2ECA-1DB369F716F0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ArtworkLogo">
            <a:extLst>
              <a:ext uri="{FF2B5EF4-FFF2-40B4-BE49-F238E27FC236}">
                <a16:creationId xmlns:a16="http://schemas.microsoft.com/office/drawing/2014/main" id="{99569BF7-1D6F-9277-D1CE-2CCC6A1FE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12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 r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4"/>
            <a:ext cx="5651498" cy="5152537"/>
          </a:xfrm>
        </p:spPr>
        <p:txBody>
          <a:bodyPr r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71445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71445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71445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1697A7E-ACCE-5011-540F-ABCB2C8EB371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0938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464" y="1"/>
            <a:ext cx="5651499" cy="1280159"/>
          </a:xfrm>
        </p:spPr>
        <p:txBody>
          <a:bodyPr l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0463" y="1520825"/>
            <a:ext cx="5651500" cy="4932363"/>
          </a:xfrm>
        </p:spPr>
        <p:txBody>
          <a:bodyPr l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71456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71456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9FB750C7-4805-0ECC-3FA0-D2C3B87801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424000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nhoud van twe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18696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18696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18696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3118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nhoud van twe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09900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09900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09900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5846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Inhoud van twe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892315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892315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892315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26998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 met thema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C2FD-3A9E-4FB6-9665-708E4478422C}" type="datetime1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092EB4F2-6BF4-2A49-29B5-4F85BDB33D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7" y="3606827"/>
            <a:ext cx="3412305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5037B0F5-CB2A-FC8C-6198-5AD67C9D78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0195" y="4112209"/>
            <a:ext cx="3391381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BE0659CB-6E14-2168-A79C-393B3A523E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00582" y="3604037"/>
            <a:ext cx="3391381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  <p:sp>
        <p:nvSpPr>
          <p:cNvPr id="18" name="Tijdelijke aanduiding voor tekst 15">
            <a:extLst>
              <a:ext uri="{FF2B5EF4-FFF2-40B4-BE49-F238E27FC236}">
                <a16:creationId xmlns:a16="http://schemas.microsoft.com/office/drawing/2014/main" id="{A6D4F84C-3FA7-9394-9AAA-A500F44CE4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00355" y="4112209"/>
            <a:ext cx="3391381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74A7EE85-3357-ABAF-D191-9DB06D4E2A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0309" y="3614923"/>
            <a:ext cx="3391381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  <p:sp>
        <p:nvSpPr>
          <p:cNvPr id="20" name="Tijdelijke aanduiding voor tekst 15">
            <a:extLst>
              <a:ext uri="{FF2B5EF4-FFF2-40B4-BE49-F238E27FC236}">
                <a16:creationId xmlns:a16="http://schemas.microsoft.com/office/drawing/2014/main" id="{A834E811-F800-B2BB-BC3E-B2936BEBBA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0309" y="4112209"/>
            <a:ext cx="3442995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AAB14BD-6D7A-1F8E-0A43-628CE143A5B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99270" y="1510538"/>
            <a:ext cx="3412305" cy="191846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21">
            <a:extLst>
              <a:ext uri="{FF2B5EF4-FFF2-40B4-BE49-F238E27FC236}">
                <a16:creationId xmlns:a16="http://schemas.microsoft.com/office/drawing/2014/main" id="{43A54D3D-7CE2-6CA6-6477-72263150EAB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00563" y="1520824"/>
            <a:ext cx="3390900" cy="189608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4" name="Tijdelijke aanduiding voor afbeelding 21">
            <a:extLst>
              <a:ext uri="{FF2B5EF4-FFF2-40B4-BE49-F238E27FC236}">
                <a16:creationId xmlns:a16="http://schemas.microsoft.com/office/drawing/2014/main" id="{6BAB077A-65C4-42E8-210F-E56864579A3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501063" y="1520825"/>
            <a:ext cx="3390900" cy="190817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42986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16-06-2026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C819F858-9DE3-548D-8A0E-0F7AEABA90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62224" y="1520824"/>
            <a:ext cx="3389313" cy="493236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60" y="3616323"/>
            <a:ext cx="2036762" cy="6699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781FE0B-A698-85E7-8C44-C9D6FF2CF35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40465" y="1520827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2DB970C1-4D66-6D68-5008-5F90B69486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02650" y="1520825"/>
            <a:ext cx="3389313" cy="49323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5" name="Tijdelijke aanduiding voor tekst 5">
            <a:extLst>
              <a:ext uri="{FF2B5EF4-FFF2-40B4-BE49-F238E27FC236}">
                <a16:creationId xmlns:a16="http://schemas.microsoft.com/office/drawing/2014/main" id="{365D69B6-C0B9-262E-5A90-5383B291BB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886" y="3616324"/>
            <a:ext cx="2036762" cy="6699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</p:spTree>
    <p:extLst>
      <p:ext uri="{BB962C8B-B14F-4D97-AF65-F5344CB8AC3E}">
        <p14:creationId xmlns:p14="http://schemas.microsoft.com/office/powerpoint/2010/main" val="19375652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vi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16-06-2026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59" y="3537176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781FE0B-A698-85E7-8C44-C9D6FF2CF35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40465" y="1520827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5" name="Tijdelijke aanduiding voor tekst 5">
            <a:extLst>
              <a:ext uri="{FF2B5EF4-FFF2-40B4-BE49-F238E27FC236}">
                <a16:creationId xmlns:a16="http://schemas.microsoft.com/office/drawing/2014/main" id="{365D69B6-C0B9-262E-5A90-5383B291BB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885" y="3537177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55C4428-AE70-7C76-7E32-AF3B30C5439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300338" y="1520824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D42064C9-8132-541A-D245-134159C6D8D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00758" y="3537174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D67C95A5-34B5-3F5B-8772-65F674F390F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80171" y="1520824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8" name="Tijdelijke aanduiding voor tekst 5">
            <a:extLst>
              <a:ext uri="{FF2B5EF4-FFF2-40B4-BE49-F238E27FC236}">
                <a16:creationId xmlns:a16="http://schemas.microsoft.com/office/drawing/2014/main" id="{9FA1F461-DD7A-654C-F840-2CF3817ACC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80591" y="3537174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27" name="Tijdelijke aanduiding voor tekst 3">
            <a:extLst>
              <a:ext uri="{FF2B5EF4-FFF2-40B4-BE49-F238E27FC236}">
                <a16:creationId xmlns:a16="http://schemas.microsoft.com/office/drawing/2014/main" id="{7FD9F287-8C74-CCD2-B6D9-30A0651985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0038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8" name="Tijdelijke aanduiding voor tekst 3">
            <a:extLst>
              <a:ext uri="{FF2B5EF4-FFF2-40B4-BE49-F238E27FC236}">
                <a16:creationId xmlns:a16="http://schemas.microsoft.com/office/drawing/2014/main" id="{668A4254-8DED-4F6B-ACDC-4442FC9D542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01969" y="4112481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9" name="Tijdelijke aanduiding voor tekst 3">
            <a:extLst>
              <a:ext uri="{FF2B5EF4-FFF2-40B4-BE49-F238E27FC236}">
                <a16:creationId xmlns:a16="http://schemas.microsoft.com/office/drawing/2014/main" id="{6D5F1858-9EAA-1813-FA9A-8CEAD3E7437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463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0" name="Tijdelijke aanduiding voor tekst 3">
            <a:extLst>
              <a:ext uri="{FF2B5EF4-FFF2-40B4-BE49-F238E27FC236}">
                <a16:creationId xmlns:a16="http://schemas.microsoft.com/office/drawing/2014/main" id="{51E7A658-3083-3474-E913-CDF1BC152F7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80591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48669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a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16-06-2026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59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83EAE987-BC6E-98C9-FEF9-B8DA8676FAB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300338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34" name="Tijdelijke aanduiding voor tekst 5">
            <a:extLst>
              <a:ext uri="{FF2B5EF4-FFF2-40B4-BE49-F238E27FC236}">
                <a16:creationId xmlns:a16="http://schemas.microsoft.com/office/drawing/2014/main" id="{8551C47D-E760-81DA-BB12-1478E64BAB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00758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149D2ED7-BAF0-8CC7-E9A1-3715AF49746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99618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36" name="Tijdelijke aanduiding voor tekst 5">
            <a:extLst>
              <a:ext uri="{FF2B5EF4-FFF2-40B4-BE49-F238E27FC236}">
                <a16:creationId xmlns:a16="http://schemas.microsoft.com/office/drawing/2014/main" id="{2558DFFA-3F27-43D5-8CA0-4F3A0C5E71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0038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7" name="Picture Placeholder 10">
            <a:extLst>
              <a:ext uri="{FF2B5EF4-FFF2-40B4-BE49-F238E27FC236}">
                <a16:creationId xmlns:a16="http://schemas.microsoft.com/office/drawing/2014/main" id="{B293267C-B5A4-21D9-7809-72A130D12F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03378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38" name="Tijdelijke aanduiding voor tekst 5">
            <a:extLst>
              <a:ext uri="{FF2B5EF4-FFF2-40B4-BE49-F238E27FC236}">
                <a16:creationId xmlns:a16="http://schemas.microsoft.com/office/drawing/2014/main" id="{B403A794-923A-D330-5799-AF8BAA36241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03798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9" name="Picture Placeholder 10">
            <a:extLst>
              <a:ext uri="{FF2B5EF4-FFF2-40B4-BE49-F238E27FC236}">
                <a16:creationId xmlns:a16="http://schemas.microsoft.com/office/drawing/2014/main" id="{56874475-56F7-FB5A-C0AF-25C722E7893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0463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0" name="Tijdelijke aanduiding voor tekst 5">
            <a:extLst>
              <a:ext uri="{FF2B5EF4-FFF2-40B4-BE49-F238E27FC236}">
                <a16:creationId xmlns:a16="http://schemas.microsoft.com/office/drawing/2014/main" id="{37117F0A-E566-A297-35D1-C3C1C5D0545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40883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41" name="Picture Placeholder 10">
            <a:extLst>
              <a:ext uri="{FF2B5EF4-FFF2-40B4-BE49-F238E27FC236}">
                <a16:creationId xmlns:a16="http://schemas.microsoft.com/office/drawing/2014/main" id="{07AE13BF-43FA-681D-01F7-768C02D9C028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40762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2" name="Tijdelijke aanduiding voor tekst 5">
            <a:extLst>
              <a:ext uri="{FF2B5EF4-FFF2-40B4-BE49-F238E27FC236}">
                <a16:creationId xmlns:a16="http://schemas.microsoft.com/office/drawing/2014/main" id="{815B6F31-CD4F-09CE-C149-B50518F65E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41182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43" name="Picture Placeholder 10">
            <a:extLst>
              <a:ext uri="{FF2B5EF4-FFF2-40B4-BE49-F238E27FC236}">
                <a16:creationId xmlns:a16="http://schemas.microsoft.com/office/drawing/2014/main" id="{F8BABAFA-4FBF-17BC-8BB3-D50B6AA20B4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240042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870F16BA-AC18-241C-91ED-DEF1CB57676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40462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45" name="Picture Placeholder 10">
            <a:extLst>
              <a:ext uri="{FF2B5EF4-FFF2-40B4-BE49-F238E27FC236}">
                <a16:creationId xmlns:a16="http://schemas.microsoft.com/office/drawing/2014/main" id="{6550A89B-C5E7-B3C5-170E-5A0E0A422A7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243802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6" name="Tijdelijke aanduiding voor tekst 5">
            <a:extLst>
              <a:ext uri="{FF2B5EF4-FFF2-40B4-BE49-F238E27FC236}">
                <a16:creationId xmlns:a16="http://schemas.microsoft.com/office/drawing/2014/main" id="{49252DAA-7954-9B97-9302-448203C9CFC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44222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</p:spTree>
    <p:extLst>
      <p:ext uri="{BB962C8B-B14F-4D97-AF65-F5344CB8AC3E}">
        <p14:creationId xmlns:p14="http://schemas.microsoft.com/office/powerpoint/2010/main" val="4287582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in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EDBDA94-24D5-41E5-9379-523B7141822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12192001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80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/>
              <a:t>	</a:t>
            </a:r>
          </a:p>
          <a:p>
            <a:pPr marL="0" lvl="0" indent="0" algn="ctr">
              <a:buNone/>
            </a:pPr>
            <a:endParaRPr lang="fr-FR" dirty="0"/>
          </a:p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39860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s - 6 Collage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06400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12800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812800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406400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876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klant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FA82258-8070-4B7B-B7C6-919C1BFAD95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0038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14" name="Espace réservé du contenu 12">
            <a:extLst>
              <a:ext uri="{FF2B5EF4-FFF2-40B4-BE49-F238E27FC236}">
                <a16:creationId xmlns:a16="http://schemas.microsoft.com/office/drawing/2014/main" id="{24B192B9-1979-47FD-B40B-D105E04FD4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252606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7" name="Espace réservé du contenu 12">
            <a:extLst>
              <a:ext uri="{FF2B5EF4-FFF2-40B4-BE49-F238E27FC236}">
                <a16:creationId xmlns:a16="http://schemas.microsoft.com/office/drawing/2014/main" id="{201296E0-114D-4FAE-9474-548B5DC841E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05175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8" name="Espace réservé du contenu 12">
            <a:extLst>
              <a:ext uri="{FF2B5EF4-FFF2-40B4-BE49-F238E27FC236}">
                <a16:creationId xmlns:a16="http://schemas.microsoft.com/office/drawing/2014/main" id="{154D76DD-DF79-45CC-89FC-1544939578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57745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1" name="Espace réservé du contenu 12">
            <a:extLst>
              <a:ext uri="{FF2B5EF4-FFF2-40B4-BE49-F238E27FC236}">
                <a16:creationId xmlns:a16="http://schemas.microsoft.com/office/drawing/2014/main" id="{E3E44833-1827-41DC-AEC3-0C01F1BAD4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0313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2" name="Espace réservé du contenu 12">
            <a:extLst>
              <a:ext uri="{FF2B5EF4-FFF2-40B4-BE49-F238E27FC236}">
                <a16:creationId xmlns:a16="http://schemas.microsoft.com/office/drawing/2014/main" id="{36394FDD-DDC6-46CD-87AF-F343169F6B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00038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3" name="Espace réservé du contenu 12">
            <a:extLst>
              <a:ext uri="{FF2B5EF4-FFF2-40B4-BE49-F238E27FC236}">
                <a16:creationId xmlns:a16="http://schemas.microsoft.com/office/drawing/2014/main" id="{F4892D69-01ED-4ACE-9A93-97CAA2FCC8E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252606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4" name="Espace réservé du contenu 12">
            <a:extLst>
              <a:ext uri="{FF2B5EF4-FFF2-40B4-BE49-F238E27FC236}">
                <a16:creationId xmlns:a16="http://schemas.microsoft.com/office/drawing/2014/main" id="{B911AC6F-ED1A-472B-82C9-F9B03EBADF4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00450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5" name="Espace réservé du contenu 12">
            <a:extLst>
              <a:ext uri="{FF2B5EF4-FFF2-40B4-BE49-F238E27FC236}">
                <a16:creationId xmlns:a16="http://schemas.microsoft.com/office/drawing/2014/main" id="{2A92BF88-4F19-41E1-9684-DFAC0736638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57745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6" name="Espace réservé du contenu 12">
            <a:extLst>
              <a:ext uri="{FF2B5EF4-FFF2-40B4-BE49-F238E27FC236}">
                <a16:creationId xmlns:a16="http://schemas.microsoft.com/office/drawing/2014/main" id="{6C4A12E5-2DFE-40D7-BD07-4F8CB3981E7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05590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A0D81A-0A4D-402E-8E9E-990523BD0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 dirty="0"/>
          </a:p>
        </p:txBody>
      </p:sp>
      <p:sp>
        <p:nvSpPr>
          <p:cNvPr id="15" name="Espace réservé du contenu 12">
            <a:extLst>
              <a:ext uri="{FF2B5EF4-FFF2-40B4-BE49-F238E27FC236}">
                <a16:creationId xmlns:a16="http://schemas.microsoft.com/office/drawing/2014/main" id="{6EACFA82-13D3-4835-BC31-EA4D32DA2EE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00038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6" name="Espace réservé du contenu 12">
            <a:extLst>
              <a:ext uri="{FF2B5EF4-FFF2-40B4-BE49-F238E27FC236}">
                <a16:creationId xmlns:a16="http://schemas.microsoft.com/office/drawing/2014/main" id="{8116A56C-8FBE-4F10-86C4-7EBBDA731D3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252606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9" name="Espace réservé du contenu 12">
            <a:extLst>
              <a:ext uri="{FF2B5EF4-FFF2-40B4-BE49-F238E27FC236}">
                <a16:creationId xmlns:a16="http://schemas.microsoft.com/office/drawing/2014/main" id="{557315BC-A319-41BD-94B1-9E47282316B6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00450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0" name="Espace réservé du contenu 12">
            <a:extLst>
              <a:ext uri="{FF2B5EF4-FFF2-40B4-BE49-F238E27FC236}">
                <a16:creationId xmlns:a16="http://schemas.microsoft.com/office/drawing/2014/main" id="{491474BD-C9D3-4108-844A-3A94E7D924B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157745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7" name="Espace réservé du contenu 12">
            <a:extLst>
              <a:ext uri="{FF2B5EF4-FFF2-40B4-BE49-F238E27FC236}">
                <a16:creationId xmlns:a16="http://schemas.microsoft.com/office/drawing/2014/main" id="{2608B710-E00E-44B4-94F8-5E4F05A89D1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05590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8" name="Espace réservé du contenu 12">
            <a:extLst>
              <a:ext uri="{FF2B5EF4-FFF2-40B4-BE49-F238E27FC236}">
                <a16:creationId xmlns:a16="http://schemas.microsoft.com/office/drawing/2014/main" id="{58ECC7BC-2F7A-4EEB-B327-78239884408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062883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9" name="Espace réservé du contenu 12">
            <a:extLst>
              <a:ext uri="{FF2B5EF4-FFF2-40B4-BE49-F238E27FC236}">
                <a16:creationId xmlns:a16="http://schemas.microsoft.com/office/drawing/2014/main" id="{08BD1D96-984C-4668-B5C1-1C6B87690E9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062883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30" name="Espace réservé du contenu 12">
            <a:extLst>
              <a:ext uri="{FF2B5EF4-FFF2-40B4-BE49-F238E27FC236}">
                <a16:creationId xmlns:a16="http://schemas.microsoft.com/office/drawing/2014/main" id="{619F8650-8ADC-4773-96F6-9A03F2569445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0062883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</p:spTree>
    <p:extLst>
      <p:ext uri="{BB962C8B-B14F-4D97-AF65-F5344CB8AC3E}">
        <p14:creationId xmlns:p14="http://schemas.microsoft.com/office/powerpoint/2010/main" val="42409696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 klant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FA82258-8070-4B7B-B7C6-919C1BFAD95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2048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0" name="Espace réservé du contenu 12">
            <a:extLst>
              <a:ext uri="{FF2B5EF4-FFF2-40B4-BE49-F238E27FC236}">
                <a16:creationId xmlns:a16="http://schemas.microsoft.com/office/drawing/2014/main" id="{B070F49F-DF60-4723-A91C-5C1E12D5861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972955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1" name="Espace réservé du contenu 12">
            <a:extLst>
              <a:ext uri="{FF2B5EF4-FFF2-40B4-BE49-F238E27FC236}">
                <a16:creationId xmlns:a16="http://schemas.microsoft.com/office/drawing/2014/main" id="{1A46C95E-26CD-45AD-BB72-B430933BACC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43862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2" name="Espace réservé du contenu 12">
            <a:extLst>
              <a:ext uri="{FF2B5EF4-FFF2-40B4-BE49-F238E27FC236}">
                <a16:creationId xmlns:a16="http://schemas.microsoft.com/office/drawing/2014/main" id="{7C59A534-42C3-4A87-94C8-B2FBBAFC4BF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14769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3" name="Espace réservé du contenu 12">
            <a:extLst>
              <a:ext uri="{FF2B5EF4-FFF2-40B4-BE49-F238E27FC236}">
                <a16:creationId xmlns:a16="http://schemas.microsoft.com/office/drawing/2014/main" id="{4BB3DF69-45D4-47B3-BA99-BA35B5100C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985675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4" name="Espace réservé du contenu 12">
            <a:extLst>
              <a:ext uri="{FF2B5EF4-FFF2-40B4-BE49-F238E27FC236}">
                <a16:creationId xmlns:a16="http://schemas.microsoft.com/office/drawing/2014/main" id="{F2BAFCF9-6ACE-4E11-8AC5-705BA7DCE73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656582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14B89B0-0422-4EDE-810F-DD425AACD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22" name="Espace réservé du contenu 12">
            <a:extLst>
              <a:ext uri="{FF2B5EF4-FFF2-40B4-BE49-F238E27FC236}">
                <a16:creationId xmlns:a16="http://schemas.microsoft.com/office/drawing/2014/main" id="{7179003E-4816-41C0-9AF2-1961BE47218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0327489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3" name="Espace réservé du contenu 12">
            <a:extLst>
              <a:ext uri="{FF2B5EF4-FFF2-40B4-BE49-F238E27FC236}">
                <a16:creationId xmlns:a16="http://schemas.microsoft.com/office/drawing/2014/main" id="{16BF5880-831D-419E-8A89-CAA8576722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2048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4" name="Espace réservé du contenu 12">
            <a:extLst>
              <a:ext uri="{FF2B5EF4-FFF2-40B4-BE49-F238E27FC236}">
                <a16:creationId xmlns:a16="http://schemas.microsoft.com/office/drawing/2014/main" id="{81EFFE30-BF7F-4D56-9052-FC7B0EA47F4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972955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5" name="Espace réservé du contenu 12">
            <a:extLst>
              <a:ext uri="{FF2B5EF4-FFF2-40B4-BE49-F238E27FC236}">
                <a16:creationId xmlns:a16="http://schemas.microsoft.com/office/drawing/2014/main" id="{9726FF2E-0D1B-446C-AED7-6C18FA081A2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643862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6" name="Espace réservé du contenu 12">
            <a:extLst>
              <a:ext uri="{FF2B5EF4-FFF2-40B4-BE49-F238E27FC236}">
                <a16:creationId xmlns:a16="http://schemas.microsoft.com/office/drawing/2014/main" id="{0452C3E5-292A-4D12-8FDE-385DEDE4DA3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14769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7" name="Espace réservé du contenu 12">
            <a:extLst>
              <a:ext uri="{FF2B5EF4-FFF2-40B4-BE49-F238E27FC236}">
                <a16:creationId xmlns:a16="http://schemas.microsoft.com/office/drawing/2014/main" id="{AE4E27E8-C18D-419A-A1FE-01638530604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985675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8" name="Espace réservé du contenu 12">
            <a:extLst>
              <a:ext uri="{FF2B5EF4-FFF2-40B4-BE49-F238E27FC236}">
                <a16:creationId xmlns:a16="http://schemas.microsoft.com/office/drawing/2014/main" id="{2202F7BB-DA07-47E6-9776-44DE2CE5B1A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656582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9" name="Espace réservé du contenu 12">
            <a:extLst>
              <a:ext uri="{FF2B5EF4-FFF2-40B4-BE49-F238E27FC236}">
                <a16:creationId xmlns:a16="http://schemas.microsoft.com/office/drawing/2014/main" id="{13AD8282-9283-4BCD-93B4-A60DE19B96B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327489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0" name="Espace réservé du contenu 12">
            <a:extLst>
              <a:ext uri="{FF2B5EF4-FFF2-40B4-BE49-F238E27FC236}">
                <a16:creationId xmlns:a16="http://schemas.microsoft.com/office/drawing/2014/main" id="{EDB560BE-84F4-41ED-A25E-92DD880EFBE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00039" y="390921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1" name="Espace réservé du contenu 12">
            <a:extLst>
              <a:ext uri="{FF2B5EF4-FFF2-40B4-BE49-F238E27FC236}">
                <a16:creationId xmlns:a16="http://schemas.microsoft.com/office/drawing/2014/main" id="{CD1F4ABC-FE91-41A9-BAF4-C6FD38763B6D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970946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2" name="Espace réservé du contenu 12">
            <a:extLst>
              <a:ext uri="{FF2B5EF4-FFF2-40B4-BE49-F238E27FC236}">
                <a16:creationId xmlns:a16="http://schemas.microsoft.com/office/drawing/2014/main" id="{E89F3236-63C3-4361-A946-CCFDF997A08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641854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3" name="Espace réservé du contenu 12">
            <a:extLst>
              <a:ext uri="{FF2B5EF4-FFF2-40B4-BE49-F238E27FC236}">
                <a16:creationId xmlns:a16="http://schemas.microsoft.com/office/drawing/2014/main" id="{C774BBFA-2EDC-46C0-99B6-BB94741E4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312761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4" name="Espace réservé du contenu 12">
            <a:extLst>
              <a:ext uri="{FF2B5EF4-FFF2-40B4-BE49-F238E27FC236}">
                <a16:creationId xmlns:a16="http://schemas.microsoft.com/office/drawing/2014/main" id="{F950F4F3-C660-4899-ADA1-15E1485646D4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983668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5" name="Espace réservé du contenu 12">
            <a:extLst>
              <a:ext uri="{FF2B5EF4-FFF2-40B4-BE49-F238E27FC236}">
                <a16:creationId xmlns:a16="http://schemas.microsoft.com/office/drawing/2014/main" id="{3F9278D3-004D-432F-A4AB-EFC0C9107FE5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654575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6" name="Espace réservé du contenu 12">
            <a:extLst>
              <a:ext uri="{FF2B5EF4-FFF2-40B4-BE49-F238E27FC236}">
                <a16:creationId xmlns:a16="http://schemas.microsoft.com/office/drawing/2014/main" id="{8D91ED01-78AD-4C9E-8EAC-02799D1F1AC5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325482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7" name="Espace réservé du contenu 12">
            <a:extLst>
              <a:ext uri="{FF2B5EF4-FFF2-40B4-BE49-F238E27FC236}">
                <a16:creationId xmlns:a16="http://schemas.microsoft.com/office/drawing/2014/main" id="{9AB1A9A0-9D07-4585-8F4A-E7E37DD658D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02048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8" name="Espace réservé du contenu 12">
            <a:extLst>
              <a:ext uri="{FF2B5EF4-FFF2-40B4-BE49-F238E27FC236}">
                <a16:creationId xmlns:a16="http://schemas.microsoft.com/office/drawing/2014/main" id="{AF9FFA38-2CAB-43BF-85AF-6A02A583BA55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972955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9" name="Espace réservé du contenu 12">
            <a:extLst>
              <a:ext uri="{FF2B5EF4-FFF2-40B4-BE49-F238E27FC236}">
                <a16:creationId xmlns:a16="http://schemas.microsoft.com/office/drawing/2014/main" id="{0C1E97B8-E5C7-46D5-8C5C-6D0E2F88F9BD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3643862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7" name="Espace réservé du contenu 12">
            <a:extLst>
              <a:ext uri="{FF2B5EF4-FFF2-40B4-BE49-F238E27FC236}">
                <a16:creationId xmlns:a16="http://schemas.microsoft.com/office/drawing/2014/main" id="{57910F56-96F7-4196-8A69-459515E99B1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5314769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8" name="Espace réservé du contenu 12">
            <a:extLst>
              <a:ext uri="{FF2B5EF4-FFF2-40B4-BE49-F238E27FC236}">
                <a16:creationId xmlns:a16="http://schemas.microsoft.com/office/drawing/2014/main" id="{E3A46883-1CA1-41B5-829C-AE02DB324B3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985675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9" name="Espace réservé du contenu 12">
            <a:extLst>
              <a:ext uri="{FF2B5EF4-FFF2-40B4-BE49-F238E27FC236}">
                <a16:creationId xmlns:a16="http://schemas.microsoft.com/office/drawing/2014/main" id="{35048BB4-8422-4CEF-97A5-D807984C0702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656582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60" name="Espace réservé du contenu 12">
            <a:extLst>
              <a:ext uri="{FF2B5EF4-FFF2-40B4-BE49-F238E27FC236}">
                <a16:creationId xmlns:a16="http://schemas.microsoft.com/office/drawing/2014/main" id="{324E096C-1CAA-4C8A-A720-E31C1A01767E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0327489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90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EEA85-DFB4-BD68-8BB4-1B5801BB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8190C34-2CC5-B3ED-1F8E-11235132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24BB-B06D-456B-989F-E4E6B54E3121}" type="datetime1">
              <a:rPr lang="nl-NL" smtClean="0"/>
              <a:t>16-06-2026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87019D9-E226-E995-5BB4-EAC600F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1E47A91-B916-8AB9-41A3-CED18AFA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19172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3C17B78-A4BA-827D-07E7-CF57F7A4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88AE-63DC-4099-90B6-C0DEFB5E6602}" type="datetime1">
              <a:rPr lang="nl-NL" smtClean="0"/>
              <a:t>16-06-2026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B6AE795-CF6B-B62A-54F3-58134306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6DEACBB-EA0E-2C61-9483-4FEA1287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2448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 zonder ba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EEA85-DFB4-BD68-8BB4-1B5801BB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8190C34-2CC5-B3ED-1F8E-11235132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97D724BB-B06D-456B-989F-E4E6B54E3121}" type="datetime1">
              <a:rPr lang="nl-NL" smtClean="0"/>
              <a:t>16-06-2026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87019D9-E226-E995-5BB4-EAC600F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1E47A91-B916-8AB9-41A3-CED18AFA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rtworkLogo">
            <a:extLst>
              <a:ext uri="{FF2B5EF4-FFF2-40B4-BE49-F238E27FC236}">
                <a16:creationId xmlns:a16="http://schemas.microsoft.com/office/drawing/2014/main" id="{CE968CEF-3847-9879-E923-ED64E3E34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902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3418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dia algem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8">
            <a:extLst>
              <a:ext uri="{FF2B5EF4-FFF2-40B4-BE49-F238E27FC236}">
                <a16:creationId xmlns:a16="http://schemas.microsoft.com/office/drawing/2014/main" id="{E3EC554F-9B3F-7C4B-6145-7BAE0BB0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0" y="0"/>
            <a:ext cx="4868487" cy="6878068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CBFD2F8A-C1A5-25EB-8679-C5C51A188736}"/>
              </a:ext>
            </a:extLst>
          </p:cNvPr>
          <p:cNvSpPr/>
          <p:nvPr userDrawn="1"/>
        </p:nvSpPr>
        <p:spPr>
          <a:xfrm>
            <a:off x="4868487" y="-1"/>
            <a:ext cx="7323513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DB1F7B06-5084-51E1-289D-351C72E889AB}"/>
              </a:ext>
            </a:extLst>
          </p:cNvPr>
          <p:cNvSpPr txBox="1"/>
          <p:nvPr userDrawn="1"/>
        </p:nvSpPr>
        <p:spPr>
          <a:xfrm>
            <a:off x="6240463" y="2371461"/>
            <a:ext cx="3836639" cy="389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Geonovum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T	</a:t>
            </a: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033 460 41 00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E	</a:t>
            </a: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info@geonovum.nl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I</a:t>
            </a: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r>
              <a:rPr lang="nl-NL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www.geonovum.nl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 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bezoekadres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Barchman</a:t>
            </a:r>
            <a:r>
              <a:rPr lang="nl-NL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 </a:t>
            </a:r>
            <a:r>
              <a:rPr lang="nl-NL" sz="1600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Wuytierslaan</a:t>
            </a:r>
            <a:r>
              <a:rPr lang="nl-NL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 10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3818 LH Amersfoort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 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b="1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postadres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Postbus 508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3800 AM Amersfoort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sp>
        <p:nvSpPr>
          <p:cNvPr id="11" name="Titel 16">
            <a:extLst>
              <a:ext uri="{FF2B5EF4-FFF2-40B4-BE49-F238E27FC236}">
                <a16:creationId xmlns:a16="http://schemas.microsoft.com/office/drawing/2014/main" id="{FE0A2F16-9901-6079-8E9E-B74B0C3DE0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462" y="296864"/>
            <a:ext cx="5651501" cy="17496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Bedankt!</a:t>
            </a:r>
          </a:p>
        </p:txBody>
      </p:sp>
    </p:spTree>
    <p:extLst>
      <p:ext uri="{BB962C8B-B14F-4D97-AF65-F5344CB8AC3E}">
        <p14:creationId xmlns:p14="http://schemas.microsoft.com/office/powerpoint/2010/main" val="41860035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dia persoon met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CBFD2F8A-C1A5-25EB-8679-C5C51A188736}"/>
              </a:ext>
            </a:extLst>
          </p:cNvPr>
          <p:cNvSpPr/>
          <p:nvPr userDrawn="1"/>
        </p:nvSpPr>
        <p:spPr>
          <a:xfrm>
            <a:off x="4868487" y="-1"/>
            <a:ext cx="7323513" cy="68418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18">
            <a:extLst>
              <a:ext uri="{FF2B5EF4-FFF2-40B4-BE49-F238E27FC236}">
                <a16:creationId xmlns:a16="http://schemas.microsoft.com/office/drawing/2014/main" id="{E3EC554F-9B3F-7C4B-6145-7BAE0BB0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0" y="0"/>
            <a:ext cx="4868487" cy="6878068"/>
          </a:xfrm>
          <a:prstGeom prst="rect">
            <a:avLst/>
          </a:prstGeom>
        </p:spPr>
      </p:pic>
      <p:sp>
        <p:nvSpPr>
          <p:cNvPr id="9" name="Tekstvak 8">
            <a:hlinkClick r:id="rId2"/>
            <a:extLst>
              <a:ext uri="{FF2B5EF4-FFF2-40B4-BE49-F238E27FC236}">
                <a16:creationId xmlns:a16="http://schemas.microsoft.com/office/drawing/2014/main" id="{DB1F7B06-5084-51E1-289D-351C72E889AB}"/>
              </a:ext>
            </a:extLst>
          </p:cNvPr>
          <p:cNvSpPr txBox="1"/>
          <p:nvPr userDrawn="1"/>
        </p:nvSpPr>
        <p:spPr>
          <a:xfrm>
            <a:off x="6240463" y="4391218"/>
            <a:ext cx="3836639" cy="76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Bezoek onze website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nl-NL" sz="18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www.geonovum.nl</a:t>
            </a:r>
            <a:r>
              <a:rPr lang="nl-NL" sz="18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8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sp>
        <p:nvSpPr>
          <p:cNvPr id="11" name="Titel 16">
            <a:extLst>
              <a:ext uri="{FF2B5EF4-FFF2-40B4-BE49-F238E27FC236}">
                <a16:creationId xmlns:a16="http://schemas.microsoft.com/office/drawing/2014/main" id="{FE0A2F16-9901-6079-8E9E-B74B0C3DE0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462" y="296864"/>
            <a:ext cx="5651501" cy="17496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Bedankt!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0F9E361-25B1-26B6-D92A-B077C62239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0463" y="2343379"/>
            <a:ext cx="5651500" cy="442232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2A494B8-DE6E-7F0A-561C-29B771234A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53302" y="3429001"/>
            <a:ext cx="4538660" cy="39143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1800" b="0" smtClean="0">
                <a:solidFill>
                  <a:schemeClr val="bg1"/>
                </a:solidFill>
              </a:defRPr>
            </a:lvl1pPr>
            <a:lvl2pPr>
              <a:defRPr lang="nl-NL" smtClean="0"/>
            </a:lvl2pPr>
            <a:lvl3pPr>
              <a:defRPr lang="nl-NL" smtClean="0"/>
            </a:lvl3pPr>
            <a:lvl4pPr>
              <a:defRPr lang="nl-NL" smtClean="0"/>
            </a:lvl4pPr>
            <a:lvl5pPr>
              <a:defRPr lang="nl-NL"/>
            </a:lvl5pPr>
          </a:lstStyle>
          <a:p>
            <a:pPr marL="0" lvl="0" indent="0">
              <a:buNone/>
            </a:pPr>
            <a:r>
              <a:rPr lang="nl-NL" dirty="0"/>
              <a:t>[e-mail]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8DBCEA1D-6766-3C2D-588B-FBECF162B6D4}"/>
              </a:ext>
            </a:extLst>
          </p:cNvPr>
          <p:cNvSpPr txBox="1"/>
          <p:nvPr userDrawn="1"/>
        </p:nvSpPr>
        <p:spPr>
          <a:xfrm>
            <a:off x="6240461" y="2965002"/>
            <a:ext cx="3989041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Contact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pic>
        <p:nvPicPr>
          <p:cNvPr id="10" name="Graphic 9">
            <a:hlinkClick r:id="rId2"/>
            <a:extLst>
              <a:ext uri="{FF2B5EF4-FFF2-40B4-BE49-F238E27FC236}">
                <a16:creationId xmlns:a16="http://schemas.microsoft.com/office/drawing/2014/main" id="{2E09973E-E0DA-1C22-6AD3-30FC84B646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9576219" y="4302361"/>
            <a:ext cx="2107422" cy="1603048"/>
          </a:xfrm>
          <a:prstGeom prst="rect">
            <a:avLst/>
          </a:prstGeom>
        </p:spPr>
      </p:pic>
      <p:sp>
        <p:nvSpPr>
          <p:cNvPr id="18" name="Tijdelijke aanduiding voor tekst 4">
            <a:extLst>
              <a:ext uri="{FF2B5EF4-FFF2-40B4-BE49-F238E27FC236}">
                <a16:creationId xmlns:a16="http://schemas.microsoft.com/office/drawing/2014/main" id="{C87550B5-77AB-5E1D-848C-7747F39A2A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3301" y="3815214"/>
            <a:ext cx="4538660" cy="39142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1800" b="0" smtClean="0">
                <a:solidFill>
                  <a:schemeClr val="bg1"/>
                </a:solidFill>
              </a:defRPr>
            </a:lvl1pPr>
            <a:lvl2pPr>
              <a:defRPr lang="nl-NL" smtClean="0"/>
            </a:lvl2pPr>
            <a:lvl3pPr>
              <a:defRPr lang="nl-NL" smtClean="0"/>
            </a:lvl3pPr>
            <a:lvl4pPr>
              <a:defRPr lang="nl-NL" smtClean="0"/>
            </a:lvl4pPr>
            <a:lvl5pPr>
              <a:defRPr lang="nl-NL"/>
            </a:lvl5pPr>
          </a:lstStyle>
          <a:p>
            <a:pPr marL="0" lvl="0" indent="0">
              <a:buNone/>
            </a:pPr>
            <a:r>
              <a:rPr lang="nl-NL" dirty="0"/>
              <a:t>[Telefoon]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1D46AB79-C56F-6ABA-E57F-AD5B98CD4821}"/>
              </a:ext>
            </a:extLst>
          </p:cNvPr>
          <p:cNvSpPr txBox="1"/>
          <p:nvPr userDrawn="1"/>
        </p:nvSpPr>
        <p:spPr>
          <a:xfrm>
            <a:off x="6245906" y="3358234"/>
            <a:ext cx="1059824" cy="832582"/>
          </a:xfrm>
          <a:prstGeom prst="rect">
            <a:avLst/>
          </a:prstGeom>
          <a:noFill/>
        </p:spPr>
        <p:txBody>
          <a:bodyPr wrap="none" lIns="72000" tIns="72000" rIns="72000" bIns="72000" anchor="ctr" anchorCtr="0">
            <a:spAutoFit/>
          </a:bodyPr>
          <a:lstStyle/>
          <a:p>
            <a:pPr marL="0" lvl="0" indent="0">
              <a:lnSpc>
                <a:spcPct val="130000"/>
              </a:lnSpc>
              <a:buNone/>
            </a:pPr>
            <a:r>
              <a:rPr lang="nl-NL" b="1" dirty="0">
                <a:solidFill>
                  <a:schemeClr val="bg1"/>
                </a:solidFill>
              </a:rPr>
              <a:t>E-mail:</a:t>
            </a:r>
          </a:p>
          <a:p>
            <a:pPr marL="0" lvl="0" indent="0">
              <a:lnSpc>
                <a:spcPct val="130000"/>
              </a:lnSpc>
              <a:buNone/>
            </a:pPr>
            <a:r>
              <a:rPr lang="nl-NL" b="1" dirty="0">
                <a:solidFill>
                  <a:schemeClr val="bg1"/>
                </a:solidFill>
              </a:rPr>
              <a:t>Telefoon:</a:t>
            </a:r>
          </a:p>
        </p:txBody>
      </p:sp>
    </p:spTree>
    <p:extLst>
      <p:ext uri="{BB962C8B-B14F-4D97-AF65-F5344CB8AC3E}">
        <p14:creationId xmlns:p14="http://schemas.microsoft.com/office/powerpoint/2010/main" val="37475997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FAF647A-F430-493F-8C59-3B8606183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7" y="1162838"/>
            <a:ext cx="10515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/>
            </a:lvl1pPr>
            <a:lvl2pPr>
              <a:lnSpc>
                <a:spcPct val="10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BA26529-85C0-4F43-A661-C246EECB0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3F4EB3E8-5FEC-4C3E-A5D3-50A8AFCC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09" y="55285"/>
            <a:ext cx="10515600" cy="765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2172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4737BDE2-6624-6AA2-E513-3C0A4D766F82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472DD61-4421-5CEC-4C48-8826AE7C6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9780132" cy="12801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6E14671-E605-C01F-EC26-2E58DAE6D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038" y="1520825"/>
            <a:ext cx="11587855" cy="493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A48627B-AB69-E330-96D2-7A8A6BA7E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0735" y="6637339"/>
            <a:ext cx="1981596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002A0C75-8C73-4BC2-A110-8B70C26DE224}" type="datetime1">
              <a:rPr lang="nl-NL" smtClean="0"/>
              <a:pPr/>
              <a:t>16-06-2026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1F30596-193F-4148-BD90-D8B9C3A96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11187" y="6637339"/>
            <a:ext cx="8588828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E07D45-0616-24CB-1480-BE6C20E68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758" y="6637339"/>
            <a:ext cx="768135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A648B885-FF76-47CB-8BBD-27E7EBF07CA9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rtworkLogo">
            <a:extLst>
              <a:ext uri="{FF2B5EF4-FFF2-40B4-BE49-F238E27FC236}">
                <a16:creationId xmlns:a16="http://schemas.microsoft.com/office/drawing/2014/main" id="{77990C53-887C-17B0-656E-BF275840E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  <p:grpSp>
        <p:nvGrpSpPr>
          <p:cNvPr id="11" name="Groep 10">
            <a:extLst>
              <a:ext uri="{FF2B5EF4-FFF2-40B4-BE49-F238E27FC236}">
                <a16:creationId xmlns:a16="http://schemas.microsoft.com/office/drawing/2014/main" id="{ECFF6442-24D7-78CE-C384-08CC040403BE}"/>
              </a:ext>
            </a:extLst>
          </p:cNvPr>
          <p:cNvGrpSpPr/>
          <p:nvPr userDrawn="1"/>
        </p:nvGrpSpPr>
        <p:grpSpPr>
          <a:xfrm>
            <a:off x="175844" y="-1"/>
            <a:ext cx="8131733" cy="6857999"/>
            <a:chOff x="0" y="0"/>
            <a:chExt cx="7536913" cy="6356350"/>
          </a:xfrm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030AC175-1567-1D95-0AFA-FE3F3B2F6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5838825" cy="5842635"/>
            </a:xfrm>
            <a:custGeom>
              <a:avLst/>
              <a:gdLst>
                <a:gd name="connsiteX0" fmla="*/ 5841340 w 5841339"/>
                <a:gd name="connsiteY0" fmla="*/ 0 h 5841720"/>
                <a:gd name="connsiteX1" fmla="*/ 3301403 w 5841339"/>
                <a:gd name="connsiteY1" fmla="*/ 0 h 5841720"/>
                <a:gd name="connsiteX2" fmla="*/ 1655826 w 5841339"/>
                <a:gd name="connsiteY2" fmla="*/ 1645666 h 5841720"/>
                <a:gd name="connsiteX3" fmla="*/ 10268 w 5841339"/>
                <a:gd name="connsiteY3" fmla="*/ 0 h 5841720"/>
                <a:gd name="connsiteX4" fmla="*/ 0 w 5841339"/>
                <a:gd name="connsiteY4" fmla="*/ 0 h 5841720"/>
                <a:gd name="connsiteX5" fmla="*/ 0 w 5841339"/>
                <a:gd name="connsiteY5" fmla="*/ 5841721 h 5841720"/>
                <a:gd name="connsiteX6" fmla="*/ 5841340 w 5841339"/>
                <a:gd name="connsiteY6" fmla="*/ 0 h 5841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41339" h="5841720">
                  <a:moveTo>
                    <a:pt x="5841340" y="0"/>
                  </a:moveTo>
                  <a:lnTo>
                    <a:pt x="3301403" y="0"/>
                  </a:lnTo>
                  <a:lnTo>
                    <a:pt x="1655826" y="1645666"/>
                  </a:lnTo>
                  <a:lnTo>
                    <a:pt x="10268" y="0"/>
                  </a:lnTo>
                  <a:lnTo>
                    <a:pt x="0" y="0"/>
                  </a:lnTo>
                  <a:lnTo>
                    <a:pt x="0" y="5841721"/>
                  </a:lnTo>
                  <a:lnTo>
                    <a:pt x="5841340" y="0"/>
                  </a:lnTo>
                  <a:close/>
                </a:path>
              </a:pathLst>
            </a:custGeom>
            <a:solidFill>
              <a:srgbClr val="0085C6">
                <a:alpha val="5000"/>
              </a:srgbClr>
            </a:solidFill>
            <a:ln w="1269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NL"/>
            </a:p>
          </p:txBody>
        </p:sp>
        <p:sp>
          <p:nvSpPr>
            <p:cNvPr id="10" name="Gelijkbenige driehoek 9">
              <a:extLst>
                <a:ext uri="{FF2B5EF4-FFF2-40B4-BE49-F238E27FC236}">
                  <a16:creationId xmlns:a16="http://schemas.microsoft.com/office/drawing/2014/main" id="{78433DAC-08AE-E961-4DE7-DBA661CABD30}"/>
                </a:ext>
              </a:extLst>
            </p:cNvPr>
            <p:cNvSpPr/>
            <p:nvPr userDrawn="1"/>
          </p:nvSpPr>
          <p:spPr>
            <a:xfrm>
              <a:off x="2031572" y="3530024"/>
              <a:ext cx="5505341" cy="2826326"/>
            </a:xfrm>
            <a:prstGeom prst="triangle">
              <a:avLst/>
            </a:prstGeom>
            <a:solidFill>
              <a:schemeClr val="accent3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33812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0" r:id="rId2"/>
    <p:sldLayoutId id="2147483679" r:id="rId3"/>
    <p:sldLayoutId id="2147483674" r:id="rId4"/>
    <p:sldLayoutId id="2147483659" r:id="rId5"/>
    <p:sldLayoutId id="2147483649" r:id="rId6"/>
    <p:sldLayoutId id="2147483651" r:id="rId7"/>
    <p:sldLayoutId id="2147483675" r:id="rId8"/>
    <p:sldLayoutId id="2147483676" r:id="rId9"/>
    <p:sldLayoutId id="2147483652" r:id="rId10"/>
    <p:sldLayoutId id="2147483669" r:id="rId11"/>
    <p:sldLayoutId id="2147483670" r:id="rId12"/>
    <p:sldLayoutId id="2147483680" r:id="rId13"/>
    <p:sldLayoutId id="2147483681" r:id="rId14"/>
    <p:sldLayoutId id="2147483682" r:id="rId15"/>
    <p:sldLayoutId id="2147483671" r:id="rId16"/>
    <p:sldLayoutId id="2147483672" r:id="rId17"/>
    <p:sldLayoutId id="2147483673" r:id="rId18"/>
    <p:sldLayoutId id="2147483660" r:id="rId19"/>
    <p:sldLayoutId id="2147483663" r:id="rId20"/>
    <p:sldLayoutId id="2147483664" r:id="rId21"/>
    <p:sldLayoutId id="2147483677" r:id="rId22"/>
    <p:sldLayoutId id="2147483665" r:id="rId23"/>
    <p:sldLayoutId id="2147483666" r:id="rId24"/>
    <p:sldLayoutId id="2147483667" r:id="rId25"/>
    <p:sldLayoutId id="2147483668" r:id="rId26"/>
    <p:sldLayoutId id="2147483678" r:id="rId27"/>
    <p:sldLayoutId id="2147483655" r:id="rId28"/>
    <p:sldLayoutId id="2147483654" r:id="rId29"/>
    <p:sldLayoutId id="2147483656" r:id="rId30"/>
    <p:sldLayoutId id="2147483657" r:id="rId31"/>
    <p:sldLayoutId id="2147483661" r:id="rId32"/>
    <p:sldLayoutId id="2147483683" r:id="rId3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b="1" kern="1200">
          <a:solidFill>
            <a:schemeClr val="accent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64686B"/>
        </a:buClr>
        <a:buSzPct val="90000"/>
        <a:buFont typeface="Wingdings" panose="05000000000000000000" pitchFamily="2" charset="2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pos="189" userDrawn="1">
          <p15:clr>
            <a:srgbClr val="F26B43"/>
          </p15:clr>
        </p15:guide>
        <p15:guide id="5" orient="horz" pos="958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  <p15:guide id="7" orient="horz" pos="703" userDrawn="1">
          <p15:clr>
            <a:srgbClr val="F26B43"/>
          </p15:clr>
        </p15:guide>
        <p15:guide id="8" orient="horz" pos="187" userDrawn="1">
          <p15:clr>
            <a:srgbClr val="F26B43"/>
          </p15:clr>
        </p15:guide>
        <p15:guide id="9" pos="3749" userDrawn="1">
          <p15:clr>
            <a:srgbClr val="F26B43"/>
          </p15:clr>
        </p15:guide>
        <p15:guide id="10" pos="39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eonovum/ogc-api-kennissessi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gc.org/DRAFTS/20-002r1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ogc.org/files/108198#create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FFAA35-54A9-2F3B-B0B5-15B9E9B65E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OGC API Features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269E31-8424-519E-A74C-0E96976EA1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02095" y="3762667"/>
            <a:ext cx="4268067" cy="316222"/>
          </a:xfrm>
        </p:spPr>
        <p:txBody>
          <a:bodyPr/>
          <a:lstStyle/>
          <a:p>
            <a:r>
              <a:rPr lang="nl-NL" dirty="0"/>
              <a:t>Bart De Lathouwer</a:t>
            </a:r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E5C588CF-1BFB-0D66-F25E-177160CCAE65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35896"/>
            <a:ext cx="2653506" cy="216000"/>
          </a:xfrm>
        </p:spPr>
        <p:txBody>
          <a:bodyPr/>
          <a:lstStyle/>
          <a:p>
            <a:fld id="{875EA9B3-809F-44BB-B7CF-79FF1B0E462C}" type="datetime2">
              <a:rPr lang="nl-NL" smtClean="0"/>
              <a:pPr/>
              <a:t>dinsdag 16 juni 2026</a:t>
            </a:fld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C1C29F-34CB-505D-6FA5-D756549933B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pPr/>
              <a:t>1</a:t>
            </a:fld>
            <a:endParaRPr lang="nl-NL" dirty="0"/>
          </a:p>
        </p:txBody>
      </p:sp>
      <p:sp>
        <p:nvSpPr>
          <p:cNvPr id="9" name="Ondertitel 8">
            <a:extLst>
              <a:ext uri="{FF2B5EF4-FFF2-40B4-BE49-F238E27FC236}">
                <a16:creationId xmlns:a16="http://schemas.microsoft.com/office/drawing/2014/main" id="{26AD830A-BA6A-6E0A-AA3C-8AF817139A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4, </a:t>
            </a:r>
            <a:r>
              <a:rPr lang="en-US" dirty="0" err="1"/>
              <a:t>Muteren</a:t>
            </a:r>
            <a:endParaRPr lang="en-NL"/>
          </a:p>
        </p:txBody>
      </p:sp>
      <p:pic>
        <p:nvPicPr>
          <p:cNvPr id="6" name="Afbeelding 5" descr="Afbeelding met sport, schoeisel, tekst, poster&#10;&#10;Automatisch gegenereerde beschrijving">
            <a:extLst>
              <a:ext uri="{FF2B5EF4-FFF2-40B4-BE49-F238E27FC236}">
                <a16:creationId xmlns:a16="http://schemas.microsoft.com/office/drawing/2014/main" id="{A47EE3B2-E428-141F-49EC-98F594C5A2C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012" y="0"/>
            <a:ext cx="4848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79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C14EEB9-ACEB-88AD-E05E-2E9A8A69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85" y="150608"/>
            <a:ext cx="9780132" cy="1280159"/>
          </a:xfrm>
        </p:spPr>
        <p:txBody>
          <a:bodyPr>
            <a:normAutofit/>
          </a:bodyPr>
          <a:lstStyle/>
          <a:p>
            <a:r>
              <a:rPr lang="nl-NL" dirty="0"/>
              <a:t>Agenda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3E8A6620-23F4-508B-17BB-C3AC9048D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04976"/>
            <a:ext cx="11963400" cy="4932363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Duur : [10:00 tot 16:00</a:t>
            </a:r>
            <a:endParaRPr lang="nl-NL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nl-NL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Aptos" panose="020B0004020202020204" pitchFamily="34" charset="0"/>
              <a:buChar char="-"/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Short intro day, welcome, personal introductions &amp; </a:t>
            </a:r>
            <a:r>
              <a:rPr lang="en-US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expactations</a:t>
            </a:r>
            <a:endParaRPr lang="nl-NL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Aptos" panose="020B0004020202020204" pitchFamily="34" charset="0"/>
              <a:buChar char="-"/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 OGC API</a:t>
            </a:r>
            <a:endParaRPr lang="nl-NL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Aptos" panose="020B0004020202020204" pitchFamily="34" charset="0"/>
              <a:buChar char="-"/>
            </a:pPr>
            <a:r>
              <a:rPr lang="nl-BE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NodeJS</a:t>
            </a:r>
            <a:r>
              <a:rPr lang="nl-BE" sz="18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nl-BE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Express</a:t>
            </a:r>
            <a:endParaRPr lang="nl-NL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Aptos" panose="020B0004020202020204" pitchFamily="34" charset="0"/>
              <a:buChar char="-"/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CRUD</a:t>
            </a:r>
          </a:p>
          <a:p>
            <a:pPr marL="685800" lvl="1">
              <a:buFont typeface="Aptos" panose="020B0004020202020204" pitchFamily="34" charset="0"/>
              <a:buChar char="-"/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Requirements Class "Create/Replace/Delete"</a:t>
            </a:r>
          </a:p>
          <a:p>
            <a:pPr marL="1143000" lvl="2">
              <a:buFont typeface="Aptos" panose="020B0004020202020204" pitchFamily="34" charset="0"/>
              <a:buChar char="-"/>
            </a:pPr>
            <a:r>
              <a:rPr lang="en-US" sz="1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POST – Create</a:t>
            </a:r>
          </a:p>
          <a:p>
            <a:pPr marL="1143000" lvl="2">
              <a:buFont typeface="Aptos" panose="020B0004020202020204" pitchFamily="34" charset="0"/>
              <a:buChar char="-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PUT – Replace</a:t>
            </a:r>
          </a:p>
          <a:p>
            <a:pPr marL="1143000" lvl="2">
              <a:buFont typeface="Aptos" panose="020B0004020202020204" pitchFamily="34" charset="0"/>
              <a:buChar char="-"/>
            </a:pPr>
            <a:r>
              <a:rPr lang="en-US" sz="1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DELETE</a:t>
            </a:r>
          </a:p>
          <a:p>
            <a:pPr marL="1143000" lvl="2">
              <a:buFont typeface="Aptos" panose="020B0004020202020204" pitchFamily="34" charset="0"/>
              <a:buChar char="-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OPTIONS</a:t>
            </a:r>
          </a:p>
          <a:p>
            <a:pPr marL="685800" lvl="1">
              <a:buFont typeface="Aptos" panose="020B0004020202020204" pitchFamily="34" charset="0"/>
              <a:buChar char="-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Requirements Class "Update”</a:t>
            </a:r>
          </a:p>
          <a:p>
            <a:pPr marL="1143000" lvl="2">
              <a:buFont typeface="Aptos" panose="020B0004020202020204" pitchFamily="34" charset="0"/>
              <a:buChar char="-"/>
            </a:pPr>
            <a:r>
              <a:rPr lang="en-US" sz="1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PATCH – Update</a:t>
            </a:r>
          </a:p>
          <a:p>
            <a:pPr marL="685800" lvl="1">
              <a:buFont typeface="Aptos" panose="020B0004020202020204" pitchFamily="34" charset="0"/>
              <a:buChar char="-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Requirements Class "Optimistic Locking”</a:t>
            </a:r>
          </a:p>
          <a:p>
            <a:pPr marL="1143000" lvl="2">
              <a:buFont typeface="Aptos" panose="020B0004020202020204" pitchFamily="34" charset="0"/>
              <a:buChar char="-"/>
            </a:pPr>
            <a:r>
              <a:rPr lang="en-US" sz="1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Timestamp</a:t>
            </a:r>
          </a:p>
          <a:p>
            <a:pPr marL="1143000" lvl="2">
              <a:buFont typeface="Aptos" panose="020B0004020202020204" pitchFamily="34" charset="0"/>
              <a:buChar char="-"/>
            </a:pPr>
            <a:r>
              <a:rPr lang="en-US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Etags</a:t>
            </a:r>
            <a:br>
              <a:rPr lang="en-US" sz="1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10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endParaRPr lang="en-US" sz="10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 lvl="1">
              <a:buFont typeface="Aptos" panose="020B0004020202020204" pitchFamily="34" charset="0"/>
              <a:buChar char="-"/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 lvl="1">
              <a:buFont typeface="Aptos" panose="020B0004020202020204" pitchFamily="34" charset="0"/>
              <a:buChar char="-"/>
            </a:pPr>
            <a:endParaRPr lang="nl-NL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AC528AC-652C-B32B-D213-8BFAA63C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8B885-FF76-47CB-8BBD-27E7EBF07CA9}" type="slidenum">
              <a:rPr kumimoji="0" lang="nl-NL" sz="1000" b="1" i="0" u="none" strike="noStrike" kern="1200" cap="none" spc="0" normalizeH="0" baseline="0" noProof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000" b="1" i="0" u="none" strike="noStrike" kern="1200" cap="none" spc="0" normalizeH="0" baseline="0" noProof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485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C14EEB9-ACEB-88AD-E05E-2E9A8A69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85" y="150608"/>
            <a:ext cx="9780132" cy="1280159"/>
          </a:xfrm>
        </p:spPr>
        <p:txBody>
          <a:bodyPr>
            <a:normAutofit/>
          </a:bodyPr>
          <a:lstStyle/>
          <a:p>
            <a:r>
              <a:rPr lang="nl-NL" dirty="0" err="1"/>
              <a:t>Why</a:t>
            </a:r>
            <a:r>
              <a:rPr lang="nl-NL" dirty="0"/>
              <a:t> OGC </a:t>
            </a:r>
            <a:r>
              <a:rPr lang="nl-NL" dirty="0" err="1"/>
              <a:t>API’s</a:t>
            </a:r>
            <a:r>
              <a:rPr lang="nl-NL" dirty="0"/>
              <a:t> ?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3E8A6620-23F4-508B-17BB-C3AC9048D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04976"/>
            <a:ext cx="11963400" cy="4932363"/>
          </a:xfrm>
        </p:spPr>
        <p:txBody>
          <a:bodyPr>
            <a:normAutofit/>
          </a:bodyPr>
          <a:lstStyle/>
          <a:p>
            <a:r>
              <a:rPr lang="nl-NL" dirty="0" err="1"/>
              <a:t>Easier</a:t>
            </a:r>
            <a:r>
              <a:rPr lang="nl-NL" dirty="0"/>
              <a:t> </a:t>
            </a:r>
            <a:r>
              <a:rPr lang="nl-NL" dirty="0" err="1"/>
              <a:t>than</a:t>
            </a:r>
            <a:r>
              <a:rPr lang="nl-NL" dirty="0"/>
              <a:t> </a:t>
            </a:r>
            <a:r>
              <a:rPr lang="nl-NL" dirty="0" err="1"/>
              <a:t>older</a:t>
            </a:r>
            <a:r>
              <a:rPr lang="nl-NL" dirty="0"/>
              <a:t> </a:t>
            </a:r>
            <a:r>
              <a:rPr lang="nl-NL" dirty="0" err="1"/>
              <a:t>generation</a:t>
            </a:r>
            <a:r>
              <a:rPr lang="nl-NL" dirty="0"/>
              <a:t> services </a:t>
            </a:r>
            <a:r>
              <a:rPr lang="nl-NL" dirty="0" err="1"/>
              <a:t>for</a:t>
            </a:r>
            <a:r>
              <a:rPr lang="nl-NL" dirty="0"/>
              <a:t> web </a:t>
            </a:r>
            <a:r>
              <a:rPr lang="nl-NL" dirty="0" err="1"/>
              <a:t>developers</a:t>
            </a:r>
            <a:r>
              <a:rPr lang="nl-NL" dirty="0"/>
              <a:t> </a:t>
            </a:r>
            <a:r>
              <a:rPr lang="nl-NL" dirty="0" err="1"/>
              <a:t>outside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geodomain</a:t>
            </a:r>
            <a:endParaRPr lang="nl-NL" dirty="0"/>
          </a:p>
          <a:p>
            <a:pPr lvl="1"/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don't</a:t>
            </a:r>
            <a:r>
              <a:rPr lang="nl-NL" dirty="0"/>
              <a:t>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a GIS specialist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;</a:t>
            </a:r>
          </a:p>
          <a:p>
            <a:pPr lvl="1"/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within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geodomain</a:t>
            </a:r>
            <a:r>
              <a:rPr lang="nl-NL" dirty="0"/>
              <a:t>;</a:t>
            </a:r>
          </a:p>
          <a:p>
            <a:pPr lvl="1"/>
            <a:r>
              <a:rPr lang="nl-NL" dirty="0" err="1"/>
              <a:t>OpenAPI</a:t>
            </a:r>
            <a:r>
              <a:rPr lang="nl-NL" dirty="0"/>
              <a:t> </a:t>
            </a:r>
            <a:r>
              <a:rPr lang="nl-NL" dirty="0" err="1"/>
              <a:t>specification</a:t>
            </a:r>
            <a:r>
              <a:rPr lang="nl-NL" dirty="0"/>
              <a:t> </a:t>
            </a:r>
            <a:r>
              <a:rPr lang="nl-NL" dirty="0" err="1"/>
              <a:t>describes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do;</a:t>
            </a:r>
          </a:p>
          <a:p>
            <a:pPr lvl="1"/>
            <a:r>
              <a:rPr lang="nl-NL" dirty="0"/>
              <a:t>Works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intuitively</a:t>
            </a:r>
            <a:r>
              <a:rPr lang="nl-NL" dirty="0"/>
              <a:t>.</a:t>
            </a:r>
          </a:p>
          <a:p>
            <a:pPr lvl="1"/>
            <a:endParaRPr lang="nl-NL" dirty="0"/>
          </a:p>
          <a:p>
            <a:r>
              <a:rPr lang="nl-NL" dirty="0" err="1"/>
              <a:t>Easier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search engines</a:t>
            </a:r>
          </a:p>
          <a:p>
            <a:endParaRPr lang="nl-NL" dirty="0"/>
          </a:p>
          <a:p>
            <a:r>
              <a:rPr lang="nl-NL" dirty="0"/>
              <a:t>Different types have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structure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are </a:t>
            </a:r>
            <a:r>
              <a:rPr lang="nl-NL" dirty="0" err="1"/>
              <a:t>therefore</a:t>
            </a:r>
            <a:r>
              <a:rPr lang="nl-NL" dirty="0"/>
              <a:t> </a:t>
            </a:r>
            <a:r>
              <a:rPr lang="nl-NL" dirty="0" err="1"/>
              <a:t>easier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combine</a:t>
            </a:r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AC528AC-652C-B32B-D213-8BFAA63C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8B885-FF76-47CB-8BBD-27E7EBF07CA9}" type="slidenum">
              <a:rPr kumimoji="0" lang="nl-NL" sz="1000" b="1" i="0" u="none" strike="noStrike" kern="1200" cap="none" spc="0" normalizeH="0" baseline="0" noProof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l-NL" sz="1000" b="1" i="0" u="none" strike="noStrike" kern="1200" cap="none" spc="0" normalizeH="0" baseline="0" noProof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893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489ED3-B3BC-CD88-3CE0-7CB84C2A6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Belang Geonovum stimuleren</a:t>
            </a:r>
            <a:br>
              <a:rPr lang="nl-NL" dirty="0"/>
            </a:br>
            <a:r>
              <a:rPr lang="nl-NL" dirty="0"/>
              <a:t>OGC-API-gebruik?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BCE330D-90E9-B597-3895-634AA2836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l-NL" dirty="0"/>
              <a:t>OGC </a:t>
            </a:r>
            <a:r>
              <a:rPr lang="nl-NL" dirty="0" err="1"/>
              <a:t>APIs</a:t>
            </a:r>
            <a:r>
              <a:rPr lang="nl-NL" dirty="0"/>
              <a:t> </a:t>
            </a:r>
            <a:r>
              <a:rPr lang="nl-NL" dirty="0" err="1"/>
              <a:t>align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Geonovum's </a:t>
            </a:r>
            <a:r>
              <a:rPr lang="nl-NL" dirty="0" err="1"/>
              <a:t>vision</a:t>
            </a:r>
            <a:r>
              <a:rPr lang="nl-NL" dirty="0"/>
              <a:t>:</a:t>
            </a:r>
          </a:p>
          <a:p>
            <a:r>
              <a:rPr lang="nl-NL" dirty="0"/>
              <a:t>Geonovum </a:t>
            </a:r>
            <a:r>
              <a:rPr lang="nl-NL" dirty="0" err="1"/>
              <a:t>aims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strengthen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Dutch </a:t>
            </a:r>
            <a:r>
              <a:rPr lang="nl-NL" dirty="0" err="1"/>
              <a:t>geo</a:t>
            </a:r>
            <a:r>
              <a:rPr lang="nl-NL" dirty="0"/>
              <a:t>-information </a:t>
            </a:r>
            <a:r>
              <a:rPr lang="nl-NL" dirty="0" err="1"/>
              <a:t>infrastructure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making </a:t>
            </a:r>
            <a:r>
              <a:rPr lang="nl-NL" dirty="0" err="1"/>
              <a:t>it</a:t>
            </a:r>
            <a:r>
              <a:rPr lang="nl-NL" dirty="0"/>
              <a:t> more </a:t>
            </a:r>
            <a:r>
              <a:rPr lang="nl-NL" dirty="0" err="1"/>
              <a:t>accessible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broad</a:t>
            </a:r>
            <a:r>
              <a:rPr lang="nl-NL" dirty="0"/>
              <a:t> </a:t>
            </a:r>
            <a:r>
              <a:rPr lang="nl-NL" dirty="0" err="1"/>
              <a:t>group</a:t>
            </a:r>
            <a:r>
              <a:rPr lang="nl-NL" dirty="0"/>
              <a:t>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OGC </a:t>
            </a:r>
            <a:r>
              <a:rPr lang="nl-NL" dirty="0" err="1"/>
              <a:t>APIs</a:t>
            </a:r>
            <a:r>
              <a:rPr lang="nl-NL" dirty="0"/>
              <a:t> </a:t>
            </a:r>
            <a:r>
              <a:rPr lang="nl-NL" dirty="0" err="1"/>
              <a:t>play</a:t>
            </a:r>
            <a:r>
              <a:rPr lang="nl-NL" dirty="0"/>
              <a:t> a </a:t>
            </a:r>
            <a:r>
              <a:rPr lang="nl-NL" dirty="0" err="1"/>
              <a:t>role</a:t>
            </a:r>
            <a:r>
              <a:rPr lang="nl-NL" dirty="0"/>
              <a:t> in </a:t>
            </a:r>
            <a:r>
              <a:rPr lang="nl-NL" dirty="0" err="1"/>
              <a:t>developments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important </a:t>
            </a:r>
            <a:r>
              <a:rPr lang="nl-NL" dirty="0" err="1"/>
              <a:t>to</a:t>
            </a:r>
            <a:r>
              <a:rPr lang="nl-NL" dirty="0"/>
              <a:t> Geonovum, </a:t>
            </a:r>
            <a:r>
              <a:rPr lang="nl-NL" dirty="0" err="1"/>
              <a:t>such</a:t>
            </a:r>
            <a:r>
              <a:rPr lang="nl-NL" dirty="0"/>
              <a:t> as:</a:t>
            </a:r>
          </a:p>
          <a:p>
            <a:pPr marL="0" indent="0">
              <a:buNone/>
            </a:pPr>
            <a:endParaRPr lang="nl-NL" dirty="0"/>
          </a:p>
          <a:p>
            <a:r>
              <a:rPr lang="nl-NL" dirty="0"/>
              <a:t>European Data </a:t>
            </a:r>
            <a:r>
              <a:rPr lang="nl-NL" dirty="0" err="1"/>
              <a:t>Strategy</a:t>
            </a:r>
            <a:endParaRPr lang="nl-NL" dirty="0"/>
          </a:p>
          <a:p>
            <a:r>
              <a:rPr lang="nl-NL" dirty="0"/>
              <a:t>IBDS: Federated Data System</a:t>
            </a:r>
          </a:p>
          <a:p>
            <a:r>
              <a:rPr lang="nl-NL" dirty="0"/>
              <a:t>Common </a:t>
            </a:r>
            <a:r>
              <a:rPr lang="nl-NL" dirty="0" err="1"/>
              <a:t>Ground</a:t>
            </a:r>
            <a:endParaRPr lang="nl-NL" dirty="0"/>
          </a:p>
          <a:p>
            <a:r>
              <a:rPr lang="nl-NL" dirty="0"/>
              <a:t>View of </a:t>
            </a:r>
            <a:r>
              <a:rPr lang="nl-NL" dirty="0" err="1"/>
              <a:t>the</a:t>
            </a:r>
            <a:r>
              <a:rPr lang="nl-NL" dirty="0"/>
              <a:t> Netherlands</a:t>
            </a:r>
          </a:p>
          <a:p>
            <a:pPr lvl="1"/>
            <a:r>
              <a:rPr lang="nl-NL" dirty="0"/>
              <a:t>Digital </a:t>
            </a:r>
            <a:r>
              <a:rPr lang="nl-NL" dirty="0" err="1"/>
              <a:t>Twins</a:t>
            </a:r>
            <a:endParaRPr lang="nl-NL" dirty="0"/>
          </a:p>
          <a:p>
            <a:pPr lvl="1"/>
            <a:r>
              <a:rPr lang="nl-NL" dirty="0"/>
              <a:t>Data Foundation</a:t>
            </a:r>
          </a:p>
          <a:p>
            <a:endParaRPr lang="nl-NL" dirty="0"/>
          </a:p>
          <a:p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96AEBC7-0D2A-BA06-52C3-C46D769B2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8B885-FF76-47CB-8BBD-27E7EBF07CA9}" type="slidenum">
              <a:rPr kumimoji="0" lang="nl-NL" sz="1000" b="1" i="0" u="none" strike="noStrike" kern="1200" cap="none" spc="0" normalizeH="0" baseline="0" noProof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000" b="1" i="0" u="none" strike="noStrike" kern="1200" cap="none" spc="0" normalizeH="0" baseline="0" noProof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952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35FAB180-D2EF-8EA0-5DA3-A4082C67BA5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0038" y="1520825"/>
            <a:ext cx="1042521" cy="100857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01A80FE-66DF-A1BC-4591-B3764223086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52606" y="1520825"/>
            <a:ext cx="1042521" cy="1008570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D007B21-BB73-4DFF-CD86-89F1AE5A60C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05175" y="1520825"/>
            <a:ext cx="1042521" cy="100857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11F54091-404B-D12D-ECB8-BB30D41B70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745" y="1520825"/>
            <a:ext cx="1042521" cy="10085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51BC154D-2C99-7558-008F-78A6F144BC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0313" y="1520825"/>
            <a:ext cx="1042521" cy="100857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B4BFAD05-02A3-D91C-4AB3-D47DE0D301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0038" y="3114835"/>
            <a:ext cx="1042521" cy="1008570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Content Placeholder 7">
            <a:extLst>
              <a:ext uri="{FF2B5EF4-FFF2-40B4-BE49-F238E27FC236}">
                <a16:creationId xmlns:a16="http://schemas.microsoft.com/office/drawing/2014/main" id="{D321C477-BDAA-16F9-B10D-713755278A8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252606" y="3114835"/>
            <a:ext cx="1042521" cy="1008570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Content Placeholder 8">
            <a:extLst>
              <a:ext uri="{FF2B5EF4-FFF2-40B4-BE49-F238E27FC236}">
                <a16:creationId xmlns:a16="http://schemas.microsoft.com/office/drawing/2014/main" id="{2EF4BD17-253B-F2EA-B41C-73A84BE0B4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00450" y="3114835"/>
            <a:ext cx="1042521" cy="1008570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Content Placeholder 9">
            <a:extLst>
              <a:ext uri="{FF2B5EF4-FFF2-40B4-BE49-F238E27FC236}">
                <a16:creationId xmlns:a16="http://schemas.microsoft.com/office/drawing/2014/main" id="{5EDFC808-4822-FE66-9DDB-A1438268926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57745" y="3114835"/>
            <a:ext cx="1042521" cy="1008570"/>
          </a:xfrm>
        </p:spPr>
        <p:txBody>
          <a:bodyPr/>
          <a:lstStyle/>
          <a:p>
            <a:endParaRPr lang="en-US"/>
          </a:p>
        </p:txBody>
      </p:sp>
      <p:sp>
        <p:nvSpPr>
          <p:cNvPr id="37" name="Content Placeholder 10">
            <a:extLst>
              <a:ext uri="{FF2B5EF4-FFF2-40B4-BE49-F238E27FC236}">
                <a16:creationId xmlns:a16="http://schemas.microsoft.com/office/drawing/2014/main" id="{AE3A78B3-0603-0BB5-DC04-209A805F807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05590" y="3114835"/>
            <a:ext cx="1042521" cy="1008570"/>
          </a:xfrm>
        </p:spPr>
        <p:txBody>
          <a:bodyPr/>
          <a:lstStyle/>
          <a:p>
            <a:endParaRPr lang="en-US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E25BB99-89F6-6CC4-85C7-D14399BBDE8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4692" y="2760871"/>
            <a:ext cx="4789105" cy="2057904"/>
          </a:xfrm>
          <a:prstGeom prst="rect">
            <a:avLst/>
          </a:prstGeom>
          <a:noFill/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655EC359-E556-E2BA-0868-F6730DFCD20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7721" y="4967402"/>
            <a:ext cx="4212946" cy="1879767"/>
          </a:xfrm>
          <a:prstGeom prst="rect">
            <a:avLst/>
          </a:prstGeom>
          <a:noFill/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6EB80989-534C-AE8C-EA0D-D684AA41733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031" y="2832067"/>
            <a:ext cx="4909017" cy="2057904"/>
          </a:xfrm>
          <a:prstGeom prst="rect">
            <a:avLst/>
          </a:prstGeom>
          <a:noFill/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8E65FCB9-236D-1A39-8F67-B2C7F13D37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0740" y="16928"/>
            <a:ext cx="4857008" cy="2340194"/>
          </a:xfrm>
          <a:prstGeom prst="rect">
            <a:avLst/>
          </a:prstGeom>
          <a:noFill/>
        </p:spPr>
      </p:pic>
      <p:sp>
        <p:nvSpPr>
          <p:cNvPr id="41" name="Content Placeholder 17">
            <a:extLst>
              <a:ext uri="{FF2B5EF4-FFF2-40B4-BE49-F238E27FC236}">
                <a16:creationId xmlns:a16="http://schemas.microsoft.com/office/drawing/2014/main" id="{EB1CDD39-BA0C-59E1-FD82-8D8EE044BED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0062883" y="1520825"/>
            <a:ext cx="1042521" cy="1008570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Content Placeholder 18">
            <a:extLst>
              <a:ext uri="{FF2B5EF4-FFF2-40B4-BE49-F238E27FC236}">
                <a16:creationId xmlns:a16="http://schemas.microsoft.com/office/drawing/2014/main" id="{2A997493-726D-6A19-4B4B-7B5721FFAE3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0062883" y="3114835"/>
            <a:ext cx="1042521" cy="1008570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Content Placeholder 19">
            <a:extLst>
              <a:ext uri="{FF2B5EF4-FFF2-40B4-BE49-F238E27FC236}">
                <a16:creationId xmlns:a16="http://schemas.microsoft.com/office/drawing/2014/main" id="{B8A2A9DB-6EE5-2E48-C1F9-2A7060C34F3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10062883" y="4708845"/>
            <a:ext cx="1042521" cy="10085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jdelijke aanduiding voor dianummer 4" hidden="1">
            <a:extLst>
              <a:ext uri="{FF2B5EF4-FFF2-40B4-BE49-F238E27FC236}">
                <a16:creationId xmlns:a16="http://schemas.microsoft.com/office/drawing/2014/main" id="{5AC528AC-652C-B32B-D213-8BFAA63CC3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19758" y="6637339"/>
            <a:ext cx="768135" cy="184616"/>
          </a:xfrm>
        </p:spPr>
        <p:txBody>
          <a:bodyPr/>
          <a:lstStyle/>
          <a:p>
            <a:pPr>
              <a:spcAft>
                <a:spcPts val="600"/>
              </a:spcAft>
            </a:pPr>
            <a:fld id="{A648B885-FF76-47CB-8BBD-27E7EBF07CA9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F3709341-1114-30AD-6260-825DEBC7C7D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031" y="-2163"/>
            <a:ext cx="4985258" cy="2518564"/>
          </a:xfrm>
          <a:prstGeom prst="rect">
            <a:avLst/>
          </a:prstGeom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29E80FBB-E1B6-7E01-38CD-DD4FF507B0E2}"/>
              </a:ext>
            </a:extLst>
          </p:cNvPr>
          <p:cNvSpPr txBox="1"/>
          <p:nvPr/>
        </p:nvSpPr>
        <p:spPr>
          <a:xfrm>
            <a:off x="5335593" y="2923076"/>
            <a:ext cx="17238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WFS &gt; Features</a:t>
            </a:r>
          </a:p>
          <a:p>
            <a:r>
              <a:rPr lang="nl-NL" dirty="0"/>
              <a:t>WMST &gt; </a:t>
            </a:r>
            <a:r>
              <a:rPr lang="nl-NL" dirty="0" err="1"/>
              <a:t>Tiles</a:t>
            </a:r>
            <a:endParaRPr lang="nl-NL" dirty="0"/>
          </a:p>
          <a:p>
            <a:r>
              <a:rPr lang="nl-NL" dirty="0"/>
              <a:t>CSV &gt; Records</a:t>
            </a:r>
          </a:p>
          <a:p>
            <a:r>
              <a:rPr lang="nl-NL" dirty="0"/>
              <a:t>WMS &gt; </a:t>
            </a:r>
            <a:r>
              <a:rPr lang="nl-NL" dirty="0" err="1"/>
              <a:t>Maps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54531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779610-5CAE-944A-A310-F51D7AD87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9F7EA0-3F56-4C7E-9B2D-3423B3AF028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53BAE-1628-214B-BF3E-83F4F525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Deployment model </a:t>
            </a:r>
            <a:r>
              <a:rPr lang="en-US" dirty="0" err="1"/>
              <a:t>voorbeeld</a:t>
            </a:r>
            <a:r>
              <a:rPr lang="en-US" dirty="0"/>
              <a:t> – API </a:t>
            </a:r>
            <a:r>
              <a:rPr lang="en-US" dirty="0" err="1"/>
              <a:t>bouwstenen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1A04B3-DBB8-004D-B853-3DE16A357026}"/>
              </a:ext>
            </a:extLst>
          </p:cNvPr>
          <p:cNvSpPr/>
          <p:nvPr/>
        </p:nvSpPr>
        <p:spPr>
          <a:xfrm>
            <a:off x="4572000" y="1448972"/>
            <a:ext cx="3301221" cy="309489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OGC API - Common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F27793-A81E-D242-BEBA-A982BFF39E56}"/>
              </a:ext>
            </a:extLst>
          </p:cNvPr>
          <p:cNvSpPr/>
          <p:nvPr/>
        </p:nvSpPr>
        <p:spPr>
          <a:xfrm>
            <a:off x="5464485" y="1699135"/>
            <a:ext cx="1596682" cy="1005834"/>
          </a:xfrm>
          <a:prstGeom prst="round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Data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919CA8E-C172-2F4D-A39F-2D52D6DB2751}"/>
              </a:ext>
            </a:extLst>
          </p:cNvPr>
          <p:cNvGrpSpPr/>
          <p:nvPr/>
        </p:nvGrpSpPr>
        <p:grpSpPr>
          <a:xfrm>
            <a:off x="2968282" y="1512276"/>
            <a:ext cx="1603717" cy="3126545"/>
            <a:chOff x="2968282" y="1512276"/>
            <a:chExt cx="1603717" cy="312654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7CDC3D10-DED1-E644-AAEE-4FD36B253C65}"/>
                </a:ext>
              </a:extLst>
            </p:cNvPr>
            <p:cNvSpPr/>
            <p:nvPr/>
          </p:nvSpPr>
          <p:spPr>
            <a:xfrm>
              <a:off x="2968282" y="1512276"/>
              <a:ext cx="1350499" cy="312654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Features: Core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3107BD7-B02B-CB4A-AA35-C8C8C5758BED}"/>
                </a:ext>
              </a:extLst>
            </p:cNvPr>
            <p:cNvCxnSpPr>
              <a:cxnSpLocks/>
            </p:cNvCxnSpPr>
            <p:nvPr/>
          </p:nvCxnSpPr>
          <p:spPr>
            <a:xfrm>
              <a:off x="4318781" y="2989383"/>
              <a:ext cx="253218" cy="0"/>
            </a:xfrm>
            <a:prstGeom prst="line">
              <a:avLst/>
            </a:prstGeom>
            <a:ln w="60325">
              <a:solidFill>
                <a:srgbClr val="FF0000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2C784C3-1A64-C144-B181-9C045AE907D6}"/>
              </a:ext>
            </a:extLst>
          </p:cNvPr>
          <p:cNvGrpSpPr/>
          <p:nvPr/>
        </p:nvGrpSpPr>
        <p:grpSpPr>
          <a:xfrm>
            <a:off x="1371600" y="2343730"/>
            <a:ext cx="1603717" cy="1181686"/>
            <a:chOff x="1371600" y="2343730"/>
            <a:chExt cx="1603717" cy="1181686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9D6C6327-53C9-E047-A161-58B088D5D4D9}"/>
                </a:ext>
              </a:extLst>
            </p:cNvPr>
            <p:cNvSpPr/>
            <p:nvPr/>
          </p:nvSpPr>
          <p:spPr>
            <a:xfrm>
              <a:off x="1371600" y="2343730"/>
              <a:ext cx="1350499" cy="118168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Features: CQL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863285A-7889-774C-A16F-326E2F502A74}"/>
                </a:ext>
              </a:extLst>
            </p:cNvPr>
            <p:cNvCxnSpPr>
              <a:cxnSpLocks/>
            </p:cNvCxnSpPr>
            <p:nvPr/>
          </p:nvCxnSpPr>
          <p:spPr>
            <a:xfrm>
              <a:off x="2722099" y="2934573"/>
              <a:ext cx="253218" cy="0"/>
            </a:xfrm>
            <a:prstGeom prst="line">
              <a:avLst/>
            </a:prstGeom>
            <a:ln w="60325">
              <a:solidFill>
                <a:srgbClr val="FF0000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BF0F17-8333-2E49-8EAE-96CD1D03B9C3}"/>
              </a:ext>
            </a:extLst>
          </p:cNvPr>
          <p:cNvGrpSpPr/>
          <p:nvPr/>
        </p:nvGrpSpPr>
        <p:grpSpPr>
          <a:xfrm>
            <a:off x="1364564" y="3699804"/>
            <a:ext cx="1603717" cy="1181686"/>
            <a:chOff x="1364564" y="3699804"/>
            <a:chExt cx="1603717" cy="1181686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D00058B-7685-184D-930B-B1CE21B915A5}"/>
                </a:ext>
              </a:extLst>
            </p:cNvPr>
            <p:cNvSpPr/>
            <p:nvPr/>
          </p:nvSpPr>
          <p:spPr>
            <a:xfrm>
              <a:off x="1364564" y="3699804"/>
              <a:ext cx="1350499" cy="118168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Features: CRS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12F39DA-9994-304E-95A0-DE58301CE0E8}"/>
                </a:ext>
              </a:extLst>
            </p:cNvPr>
            <p:cNvCxnSpPr>
              <a:cxnSpLocks/>
            </p:cNvCxnSpPr>
            <p:nvPr/>
          </p:nvCxnSpPr>
          <p:spPr>
            <a:xfrm>
              <a:off x="2715063" y="4268661"/>
              <a:ext cx="253218" cy="0"/>
            </a:xfrm>
            <a:prstGeom prst="line">
              <a:avLst/>
            </a:prstGeom>
            <a:ln w="60325">
              <a:solidFill>
                <a:srgbClr val="FF0000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79FDF96-8340-2B44-924F-03B0047D38D7}"/>
              </a:ext>
            </a:extLst>
          </p:cNvPr>
          <p:cNvGrpSpPr/>
          <p:nvPr/>
        </p:nvGrpSpPr>
        <p:grpSpPr>
          <a:xfrm>
            <a:off x="7816218" y="1012307"/>
            <a:ext cx="1610752" cy="1181686"/>
            <a:chOff x="8222564" y="1512276"/>
            <a:chExt cx="1610752" cy="1181686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BDFCDCB-9554-9B47-B010-2225967B6E57}"/>
                </a:ext>
              </a:extLst>
            </p:cNvPr>
            <p:cNvSpPr/>
            <p:nvPr/>
          </p:nvSpPr>
          <p:spPr>
            <a:xfrm>
              <a:off x="8482817" y="1512276"/>
              <a:ext cx="1350499" cy="1181686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Tiles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E29048C-79E4-A44E-B063-23411DB7838B}"/>
                </a:ext>
              </a:extLst>
            </p:cNvPr>
            <p:cNvCxnSpPr>
              <a:cxnSpLocks/>
            </p:cNvCxnSpPr>
            <p:nvPr/>
          </p:nvCxnSpPr>
          <p:spPr>
            <a:xfrm>
              <a:off x="8222564" y="2095201"/>
              <a:ext cx="253218" cy="0"/>
            </a:xfrm>
            <a:prstGeom prst="line">
              <a:avLst/>
            </a:prstGeom>
            <a:ln w="60325">
              <a:solidFill>
                <a:srgbClr val="FF0000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C1FC89C-8F74-DB42-9D9F-522BB203C96D}"/>
              </a:ext>
            </a:extLst>
          </p:cNvPr>
          <p:cNvGrpSpPr/>
          <p:nvPr/>
        </p:nvGrpSpPr>
        <p:grpSpPr>
          <a:xfrm>
            <a:off x="7811688" y="2304726"/>
            <a:ext cx="1603716" cy="1181686"/>
            <a:chOff x="8229599" y="2892371"/>
            <a:chExt cx="1603716" cy="1181686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9BF8133B-065D-844D-9DFC-65C80AF17A53}"/>
                </a:ext>
              </a:extLst>
            </p:cNvPr>
            <p:cNvSpPr/>
            <p:nvPr/>
          </p:nvSpPr>
          <p:spPr>
            <a:xfrm>
              <a:off x="8482816" y="2892371"/>
              <a:ext cx="1350499" cy="1181686"/>
            </a:xfrm>
            <a:prstGeom prst="roundRect">
              <a:avLst/>
            </a:prstGeom>
            <a:solidFill>
              <a:srgbClr val="F6ADAA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Maps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235D7DC-3C06-3744-8C3A-DCEC6B4214CD}"/>
                </a:ext>
              </a:extLst>
            </p:cNvPr>
            <p:cNvCxnSpPr>
              <a:cxnSpLocks/>
            </p:cNvCxnSpPr>
            <p:nvPr/>
          </p:nvCxnSpPr>
          <p:spPr>
            <a:xfrm>
              <a:off x="8229599" y="3461228"/>
              <a:ext cx="253218" cy="0"/>
            </a:xfrm>
            <a:prstGeom prst="line">
              <a:avLst/>
            </a:prstGeom>
            <a:ln w="60325">
              <a:solidFill>
                <a:srgbClr val="FF0000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4914079-C515-5040-826E-4EA6CA469410}"/>
              </a:ext>
            </a:extLst>
          </p:cNvPr>
          <p:cNvGrpSpPr/>
          <p:nvPr/>
        </p:nvGrpSpPr>
        <p:grpSpPr>
          <a:xfrm>
            <a:off x="4065563" y="4638821"/>
            <a:ext cx="2474829" cy="1329399"/>
            <a:chOff x="4065563" y="4638821"/>
            <a:chExt cx="2474829" cy="1329399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3C292CF-49B0-3B45-B3BB-743FD24D0F43}"/>
                </a:ext>
              </a:extLst>
            </p:cNvPr>
            <p:cNvSpPr/>
            <p:nvPr/>
          </p:nvSpPr>
          <p:spPr>
            <a:xfrm>
              <a:off x="4903851" y="4818185"/>
              <a:ext cx="1636541" cy="115003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Features: </a:t>
              </a:r>
              <a:r>
                <a:rPr lang="en-US" dirty="0" err="1">
                  <a:solidFill>
                    <a:srgbClr val="002060"/>
                  </a:solidFill>
                </a:rPr>
                <a:t>Muteren</a:t>
              </a:r>
              <a:endParaRPr lang="en-US" dirty="0">
                <a:solidFill>
                  <a:srgbClr val="002060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67D098A-8EF7-A44A-957F-774A465FBE4E}"/>
                </a:ext>
              </a:extLst>
            </p:cNvPr>
            <p:cNvCxnSpPr>
              <a:cxnSpLocks/>
            </p:cNvCxnSpPr>
            <p:nvPr/>
          </p:nvCxnSpPr>
          <p:spPr>
            <a:xfrm>
              <a:off x="4065563" y="4638821"/>
              <a:ext cx="838288" cy="425548"/>
            </a:xfrm>
            <a:prstGeom prst="line">
              <a:avLst/>
            </a:prstGeom>
            <a:ln w="60325">
              <a:solidFill>
                <a:srgbClr val="FF0000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262AC9-E31F-DF49-B174-FE917AFC0E97}"/>
              </a:ext>
            </a:extLst>
          </p:cNvPr>
          <p:cNvGrpSpPr/>
          <p:nvPr/>
        </p:nvGrpSpPr>
        <p:grpSpPr>
          <a:xfrm>
            <a:off x="6747805" y="4543865"/>
            <a:ext cx="1350499" cy="1424355"/>
            <a:chOff x="6747805" y="4543865"/>
            <a:chExt cx="1350499" cy="1424355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786B103-3C82-CE4D-8DD2-A46FA9F44763}"/>
                </a:ext>
              </a:extLst>
            </p:cNvPr>
            <p:cNvSpPr/>
            <p:nvPr/>
          </p:nvSpPr>
          <p:spPr>
            <a:xfrm>
              <a:off x="6747805" y="4786534"/>
              <a:ext cx="1350499" cy="118168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EDR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AB0125F-DEB7-4B45-B385-4FA0502B721A}"/>
                </a:ext>
              </a:extLst>
            </p:cNvPr>
            <p:cNvCxnSpPr>
              <a:cxnSpLocks/>
            </p:cNvCxnSpPr>
            <p:nvPr/>
          </p:nvCxnSpPr>
          <p:spPr>
            <a:xfrm>
              <a:off x="7423054" y="4543865"/>
              <a:ext cx="0" cy="242669"/>
            </a:xfrm>
            <a:prstGeom prst="line">
              <a:avLst/>
            </a:prstGeom>
            <a:ln w="60325">
              <a:solidFill>
                <a:srgbClr val="FF0000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E5277A3-0EE3-4445-9426-A2E7A18CA3BD}"/>
              </a:ext>
            </a:extLst>
          </p:cNvPr>
          <p:cNvGrpSpPr/>
          <p:nvPr/>
        </p:nvGrpSpPr>
        <p:grpSpPr>
          <a:xfrm>
            <a:off x="7866374" y="3841051"/>
            <a:ext cx="1702186" cy="1203672"/>
            <a:chOff x="8124095" y="4268661"/>
            <a:chExt cx="1702186" cy="1203672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DDEDD59-24D1-154C-A6FC-8321D7A668ED}"/>
                </a:ext>
              </a:extLst>
            </p:cNvPr>
            <p:cNvSpPr/>
            <p:nvPr/>
          </p:nvSpPr>
          <p:spPr>
            <a:xfrm>
              <a:off x="8475782" y="4290647"/>
              <a:ext cx="1350499" cy="1181686"/>
            </a:xfrm>
            <a:prstGeom prst="roundRect">
              <a:avLst/>
            </a:prstGeom>
            <a:solidFill>
              <a:srgbClr val="D4B5D8"/>
            </a:solidFill>
            <a:ln w="254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Coverages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3066625-96E8-B849-AD70-FF4B08225E75}"/>
                </a:ext>
              </a:extLst>
            </p:cNvPr>
            <p:cNvCxnSpPr>
              <a:cxnSpLocks/>
            </p:cNvCxnSpPr>
            <p:nvPr/>
          </p:nvCxnSpPr>
          <p:spPr>
            <a:xfrm>
              <a:off x="8124095" y="4268661"/>
              <a:ext cx="358721" cy="176730"/>
            </a:xfrm>
            <a:prstGeom prst="line">
              <a:avLst/>
            </a:prstGeom>
            <a:ln w="60325">
              <a:solidFill>
                <a:srgbClr val="FF0000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B3C395C-1C66-9604-0440-695525A9BAC5}"/>
              </a:ext>
            </a:extLst>
          </p:cNvPr>
          <p:cNvGrpSpPr/>
          <p:nvPr/>
        </p:nvGrpSpPr>
        <p:grpSpPr>
          <a:xfrm>
            <a:off x="9708230" y="1180946"/>
            <a:ext cx="2223515" cy="1077218"/>
            <a:chOff x="9708230" y="1180946"/>
            <a:chExt cx="2223515" cy="107721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280AB07-1FE0-3348-9689-4C8AFF8F93FD}"/>
                </a:ext>
              </a:extLst>
            </p:cNvPr>
            <p:cNvSpPr txBox="1"/>
            <p:nvPr/>
          </p:nvSpPr>
          <p:spPr>
            <a:xfrm>
              <a:off x="9708230" y="1180946"/>
              <a:ext cx="140921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2060"/>
                  </a:solidFill>
                </a:rPr>
                <a:t>User: I want to view maps on my smartphone</a:t>
              </a:r>
            </a:p>
          </p:txBody>
        </p:sp>
        <p:pic>
          <p:nvPicPr>
            <p:cNvPr id="46" name="Graphic 45" descr="Topography Map">
              <a:extLst>
                <a:ext uri="{FF2B5EF4-FFF2-40B4-BE49-F238E27FC236}">
                  <a16:creationId xmlns:a16="http://schemas.microsoft.com/office/drawing/2014/main" id="{DC2A14C1-2538-4143-AB92-12E3775816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11198128" y="1411114"/>
              <a:ext cx="733617" cy="767612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3DABD50-0D98-8345-B850-12DEF746669B}"/>
              </a:ext>
            </a:extLst>
          </p:cNvPr>
          <p:cNvGrpSpPr/>
          <p:nvPr/>
        </p:nvGrpSpPr>
        <p:grpSpPr>
          <a:xfrm>
            <a:off x="198603" y="957576"/>
            <a:ext cx="2184609" cy="2114729"/>
            <a:chOff x="198603" y="957576"/>
            <a:chExt cx="2184609" cy="2114729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4A6BC10-276F-A845-94D8-FFBF7B0623B6}"/>
                </a:ext>
              </a:extLst>
            </p:cNvPr>
            <p:cNvSpPr txBox="1"/>
            <p:nvPr/>
          </p:nvSpPr>
          <p:spPr>
            <a:xfrm>
              <a:off x="198603" y="957576"/>
              <a:ext cx="218460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2060"/>
                  </a:solidFill>
                </a:rPr>
                <a:t>User: I want a list of traffic lights with specific characteristics</a:t>
              </a:r>
            </a:p>
          </p:txBody>
        </p:sp>
        <p:pic>
          <p:nvPicPr>
            <p:cNvPr id="48" name="Graphic 47" descr="Map with pin">
              <a:extLst>
                <a:ext uri="{FF2B5EF4-FFF2-40B4-BE49-F238E27FC236}">
                  <a16:creationId xmlns:a16="http://schemas.microsoft.com/office/drawing/2014/main" id="{E1CFE810-D6A5-A446-B1CA-B5161004B0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60255" y="2157905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B529102-A67D-8A4B-A3C0-0BF867F79BB7}"/>
              </a:ext>
            </a:extLst>
          </p:cNvPr>
          <p:cNvGrpSpPr/>
          <p:nvPr/>
        </p:nvGrpSpPr>
        <p:grpSpPr>
          <a:xfrm>
            <a:off x="223709" y="5064370"/>
            <a:ext cx="3211307" cy="1181685"/>
            <a:chOff x="223709" y="5064369"/>
            <a:chExt cx="3912013" cy="125382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47A42BC-10A1-904D-B084-38DEBDF3A3C7}"/>
                </a:ext>
              </a:extLst>
            </p:cNvPr>
            <p:cNvSpPr txBox="1"/>
            <p:nvPr/>
          </p:nvSpPr>
          <p:spPr>
            <a:xfrm>
              <a:off x="223709" y="5064369"/>
              <a:ext cx="3141721" cy="881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2060"/>
                  </a:solidFill>
                </a:rPr>
                <a:t>User: I am looking for locations of recent boreholes in RD</a:t>
              </a:r>
            </a:p>
          </p:txBody>
        </p:sp>
        <p:pic>
          <p:nvPicPr>
            <p:cNvPr id="52" name="Graphic 51" descr="Earth globe: Asia and Australia">
              <a:extLst>
                <a:ext uri="{FF2B5EF4-FFF2-40B4-BE49-F238E27FC236}">
                  <a16:creationId xmlns:a16="http://schemas.microsoft.com/office/drawing/2014/main" id="{CA4740C6-8DC8-104D-8965-E96EE181CA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3221322" y="5403798"/>
              <a:ext cx="914400" cy="9144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34C7E22-88DF-4046-9CAF-9BE99D0935CB}"/>
              </a:ext>
            </a:extLst>
          </p:cNvPr>
          <p:cNvGrpSpPr/>
          <p:nvPr/>
        </p:nvGrpSpPr>
        <p:grpSpPr>
          <a:xfrm>
            <a:off x="9644665" y="4022142"/>
            <a:ext cx="2051137" cy="1465383"/>
            <a:chOff x="8824650" y="4502837"/>
            <a:chExt cx="3168745" cy="207205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20720C5-8F11-754B-889C-F9DB829A0C24}"/>
                </a:ext>
              </a:extLst>
            </p:cNvPr>
            <p:cNvSpPr txBox="1"/>
            <p:nvPr/>
          </p:nvSpPr>
          <p:spPr>
            <a:xfrm>
              <a:off x="10072464" y="4502837"/>
              <a:ext cx="1920931" cy="1871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2060"/>
                  </a:solidFill>
                </a:rPr>
                <a:t>User: a hurricane is coming, give me everything</a:t>
              </a:r>
            </a:p>
          </p:txBody>
        </p:sp>
        <p:pic>
          <p:nvPicPr>
            <p:cNvPr id="1026" name="Picture 2" descr="Hurricane Icon 25995">
              <a:extLst>
                <a:ext uri="{FF2B5EF4-FFF2-40B4-BE49-F238E27FC236}">
                  <a16:creationId xmlns:a16="http://schemas.microsoft.com/office/drawing/2014/main" id="{FD97FB66-6CB4-F340-8B5E-D913E97F4A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colorTemperature colorTemp="112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4650" y="5393202"/>
              <a:ext cx="1181687" cy="1181687"/>
            </a:xfrm>
            <a:prstGeom prst="rect">
              <a:avLst/>
            </a:prstGeom>
            <a:noFill/>
          </p:spPr>
        </p:pic>
      </p:grpSp>
      <p:sp>
        <p:nvSpPr>
          <p:cNvPr id="17" name="TextBox 27">
            <a:extLst>
              <a:ext uri="{FF2B5EF4-FFF2-40B4-BE49-F238E27FC236}">
                <a16:creationId xmlns:a16="http://schemas.microsoft.com/office/drawing/2014/main" id="{309CA6A6-0C27-912D-E9DD-F8C2937AF1EF}"/>
              </a:ext>
            </a:extLst>
          </p:cNvPr>
          <p:cNvSpPr txBox="1"/>
          <p:nvPr/>
        </p:nvSpPr>
        <p:spPr>
          <a:xfrm>
            <a:off x="3961255" y="6027065"/>
            <a:ext cx="2578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User: I want to change data about this object</a:t>
            </a:r>
          </a:p>
        </p:txBody>
      </p:sp>
      <p:pic>
        <p:nvPicPr>
          <p:cNvPr id="26" name="Graphic 25" descr="Cloud Computing met effen opvulling">
            <a:extLst>
              <a:ext uri="{FF2B5EF4-FFF2-40B4-BE49-F238E27FC236}">
                <a16:creationId xmlns:a16="http://schemas.microsoft.com/office/drawing/2014/main" id="{C08A0D8E-434E-38F5-6E0F-90D08ABF4C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6230392" y="6078942"/>
            <a:ext cx="723773" cy="723773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D632E441-724B-A947-91CF-9AD112AF9601}"/>
              </a:ext>
            </a:extLst>
          </p:cNvPr>
          <p:cNvGrpSpPr/>
          <p:nvPr/>
        </p:nvGrpSpPr>
        <p:grpSpPr>
          <a:xfrm>
            <a:off x="7767895" y="5421348"/>
            <a:ext cx="2567072" cy="1569660"/>
            <a:chOff x="8817247" y="4934978"/>
            <a:chExt cx="2567072" cy="2217868"/>
          </a:xfrm>
        </p:grpSpPr>
        <p:pic>
          <p:nvPicPr>
            <p:cNvPr id="23" name="Graphic 22" descr="Take Off with solid fill">
              <a:extLst>
                <a:ext uri="{FF2B5EF4-FFF2-40B4-BE49-F238E27FC236}">
                  <a16:creationId xmlns:a16="http://schemas.microsoft.com/office/drawing/2014/main" id="{6A5BAB71-72CF-6795-5884-D98F000513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8817247" y="5643057"/>
              <a:ext cx="914400" cy="914401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C6D47B-E790-D923-2E95-43632C7AFDF1}"/>
                </a:ext>
              </a:extLst>
            </p:cNvPr>
            <p:cNvSpPr txBox="1"/>
            <p:nvPr/>
          </p:nvSpPr>
          <p:spPr>
            <a:xfrm>
              <a:off x="9846365" y="4934978"/>
              <a:ext cx="1537954" cy="2217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2060"/>
                  </a:solidFill>
                </a:rPr>
                <a:t>User: I am flying to New York via this route, what is the weather like </a:t>
              </a:r>
              <a:r>
                <a:rPr lang="en-US" sz="1600" dirty="0" err="1">
                  <a:solidFill>
                    <a:srgbClr val="002060"/>
                  </a:solidFill>
                </a:rPr>
                <a:t>en</a:t>
              </a:r>
              <a:r>
                <a:rPr lang="en-US" sz="1600" dirty="0">
                  <a:solidFill>
                    <a:srgbClr val="002060"/>
                  </a:solidFill>
                </a:rPr>
                <a:t> route?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ACAF55C-7AF6-4A39-F57F-CE7ED45F527D}"/>
              </a:ext>
            </a:extLst>
          </p:cNvPr>
          <p:cNvGrpSpPr/>
          <p:nvPr/>
        </p:nvGrpSpPr>
        <p:grpSpPr>
          <a:xfrm>
            <a:off x="9848597" y="2615105"/>
            <a:ext cx="2223516" cy="1077218"/>
            <a:chOff x="9708229" y="1180946"/>
            <a:chExt cx="2223516" cy="1077218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36C2EFC-29A7-74DE-1F66-92DA8030D654}"/>
                </a:ext>
              </a:extLst>
            </p:cNvPr>
            <p:cNvSpPr txBox="1"/>
            <p:nvPr/>
          </p:nvSpPr>
          <p:spPr>
            <a:xfrm>
              <a:off x="9708229" y="1180946"/>
              <a:ext cx="157500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2060"/>
                  </a:solidFill>
                </a:rPr>
                <a:t>User: I want to download a map for a report</a:t>
              </a:r>
            </a:p>
          </p:txBody>
        </p:sp>
        <p:pic>
          <p:nvPicPr>
            <p:cNvPr id="44" name="Graphic 43" descr="Topography Map">
              <a:extLst>
                <a:ext uri="{FF2B5EF4-FFF2-40B4-BE49-F238E27FC236}">
                  <a16:creationId xmlns:a16="http://schemas.microsoft.com/office/drawing/2014/main" id="{D11062FB-96C5-360E-5165-E69993C406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11198128" y="1411114"/>
              <a:ext cx="733617" cy="7676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954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F7AC-2FAD-9F0C-7B8E-78A30283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OGC API Common – </a:t>
            </a:r>
            <a:r>
              <a:rPr lang="en-US" dirty="0" err="1"/>
              <a:t>algemene</a:t>
            </a:r>
            <a:r>
              <a:rPr lang="en-US" dirty="0"/>
              <a:t> regels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58127-5F7D-D5FD-B935-DCEE3E901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Consistent use of HTTP(S)</a:t>
            </a:r>
          </a:p>
          <a:p>
            <a:r>
              <a:rPr lang="en-US" dirty="0"/>
              <a:t>Consistent URI structure</a:t>
            </a:r>
          </a:p>
          <a:p>
            <a:r>
              <a:rPr lang="en-US" dirty="0"/>
              <a:t>Consistent use of parameters</a:t>
            </a:r>
          </a:p>
          <a:p>
            <a:r>
              <a:rPr lang="en-US" dirty="0"/>
              <a:t>There is always a landing page</a:t>
            </a:r>
          </a:p>
          <a:p>
            <a:r>
              <a:rPr lang="en-US" dirty="0"/>
              <a:t>Consistent delivery of JSON and HTML</a:t>
            </a:r>
          </a:p>
          <a:p>
            <a:r>
              <a:rPr lang="en-US" dirty="0"/>
              <a:t>Preferably API description in </a:t>
            </a:r>
            <a:r>
              <a:rPr lang="en-US" dirty="0" err="1"/>
              <a:t>OpenAPI</a:t>
            </a:r>
            <a:r>
              <a:rPr lang="en-US" dirty="0"/>
              <a:t> 3.0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A5AA5-1ACF-D39A-64DA-B65555B3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758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BF147C-C1B1-2E5A-EB87-799D0FC6E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Een kijkje naar OGC API Features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9E06F1-B7BA-B504-8539-741EF2120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E83E8C"/>
                </a:solidFill>
                <a:latin typeface="SFMono-Regular"/>
              </a:rPr>
              <a:t>GET /</a:t>
            </a:r>
            <a:endParaRPr lang="en-US" b="0" i="0" dirty="0">
              <a:solidFill>
                <a:srgbClr val="E83E8C"/>
              </a:solidFill>
              <a:effectLst/>
              <a:latin typeface="SFMono-Regular"/>
            </a:endParaRPr>
          </a:p>
          <a:p>
            <a:r>
              <a:rPr lang="en-US" b="0" i="0" dirty="0">
                <a:solidFill>
                  <a:srgbClr val="E83E8C"/>
                </a:solidFill>
                <a:effectLst/>
                <a:latin typeface="SFMono-Regular"/>
              </a:rPr>
              <a:t>GET /collections</a:t>
            </a:r>
            <a:br>
              <a:rPr lang="en-US" b="0" i="0" dirty="0">
                <a:solidFill>
                  <a:srgbClr val="E83E8C"/>
                </a:solidFill>
                <a:effectLst/>
                <a:latin typeface="SFMono-Regular"/>
              </a:rPr>
            </a:br>
            <a:r>
              <a:rPr lang="en-US" sz="1900" dirty="0">
                <a:solidFill>
                  <a:srgbClr val="262626"/>
                </a:solidFill>
                <a:latin typeface="Mont Book"/>
                <a:sym typeface="Mont Book"/>
              </a:rPr>
              <a:t>list of datasets &amp; key metadata</a:t>
            </a:r>
          </a:p>
          <a:p>
            <a:r>
              <a:rPr lang="en-US" b="0" i="0" dirty="0">
                <a:solidFill>
                  <a:srgbClr val="E83E8C"/>
                </a:solidFill>
                <a:effectLst/>
                <a:latin typeface="SFMono-Regular"/>
              </a:rPr>
              <a:t>GET /collections/buildings/</a:t>
            </a:r>
            <a:r>
              <a:rPr lang="en-US" b="0" i="0" dirty="0" err="1">
                <a:solidFill>
                  <a:srgbClr val="E83E8C"/>
                </a:solidFill>
                <a:effectLst/>
                <a:latin typeface="SFMono-Regular"/>
              </a:rPr>
              <a:t>items?bbox</a:t>
            </a:r>
            <a:r>
              <a:rPr lang="en-US" b="0" i="0" dirty="0">
                <a:solidFill>
                  <a:srgbClr val="E83E8C"/>
                </a:solidFill>
                <a:effectLst/>
                <a:latin typeface="SFMono-Regular"/>
              </a:rPr>
              <a:t>=160.6,-55.95,-170,-25.89</a:t>
            </a:r>
          </a:p>
          <a:p>
            <a:pPr lvl="1"/>
            <a:r>
              <a:rPr lang="en-US" sz="1900" dirty="0">
                <a:solidFill>
                  <a:srgbClr val="262626"/>
                </a:solidFill>
                <a:latin typeface="Mont Book"/>
              </a:rPr>
              <a:t>retrieving items from a collection within a bounding box (or other simple filter)</a:t>
            </a:r>
          </a:p>
          <a:p>
            <a:pPr lvl="1"/>
            <a:r>
              <a:rPr lang="en-US" sz="1900" dirty="0">
                <a:solidFill>
                  <a:srgbClr val="262626"/>
                </a:solidFill>
                <a:latin typeface="Mont Book"/>
              </a:rPr>
              <a:t>client can request the desired format via content negotiation, e.g. </a:t>
            </a:r>
            <a:r>
              <a:rPr lang="en-US" sz="1900" dirty="0" err="1">
                <a:solidFill>
                  <a:srgbClr val="262626"/>
                </a:solidFill>
                <a:latin typeface="Mont Book"/>
              </a:rPr>
              <a:t>GeoJSON</a:t>
            </a:r>
            <a:endParaRPr lang="en-US" sz="1900" dirty="0">
              <a:solidFill>
                <a:srgbClr val="262626"/>
              </a:solidFill>
              <a:latin typeface="Mont Book"/>
            </a:endParaRPr>
          </a:p>
          <a:p>
            <a:pPr lvl="1"/>
            <a:r>
              <a:rPr lang="en-US" sz="1900" dirty="0">
                <a:solidFill>
                  <a:srgbClr val="262626"/>
                </a:solidFill>
                <a:latin typeface="Mont Book"/>
              </a:rPr>
              <a:t>Pagination</a:t>
            </a:r>
          </a:p>
          <a:p>
            <a:r>
              <a:rPr lang="en-US" b="0" i="0" dirty="0">
                <a:solidFill>
                  <a:srgbClr val="E83E8C"/>
                </a:solidFill>
                <a:effectLst/>
                <a:latin typeface="SFMono-Regular"/>
              </a:rPr>
              <a:t>GET /collections/buildings/items/building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solidFill>
                  <a:srgbClr val="262626"/>
                </a:solidFill>
                <a:latin typeface="Mont Book"/>
              </a:rPr>
              <a:t>Request individual item</a:t>
            </a:r>
          </a:p>
          <a:p>
            <a:pPr>
              <a:lnSpc>
                <a:spcPct val="100000"/>
              </a:lnSpc>
            </a:pPr>
            <a:r>
              <a:rPr kumimoji="0" lang="en-NL" altLang="en-NL" sz="3200" b="0" i="0" u="none" strike="noStrike" cap="none" normalizeH="0" baseline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GET </a:t>
            </a:r>
            <a:r>
              <a:rPr kumimoji="0" lang="en-NL" altLang="en-NL" sz="32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/collections/buildings/</a:t>
            </a:r>
            <a:r>
              <a:rPr kumimoji="0" lang="en-NL" altLang="en-NL" sz="32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items?crs</a:t>
            </a:r>
            <a:r>
              <a:rPr kumimoji="0" lang="en-NL" altLang="en-NL" sz="32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=</a:t>
            </a:r>
            <a:r>
              <a:rPr kumimoji="0" lang="nl-NL" altLang="en-NL" sz="32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{</a:t>
            </a:r>
            <a:r>
              <a:rPr kumimoji="0" lang="nl-NL" altLang="en-NL" sz="32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crsuri</a:t>
            </a:r>
            <a:r>
              <a:rPr kumimoji="0" lang="nl-NL" altLang="en-NL" sz="32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}</a:t>
            </a:r>
          </a:p>
          <a:p>
            <a:pPr lvl="1">
              <a:lnSpc>
                <a:spcPct val="110000"/>
              </a:lnSpc>
            </a:pPr>
            <a:r>
              <a:rPr lang="nl-NL" altLang="en-NL" sz="1900" dirty="0">
                <a:solidFill>
                  <a:srgbClr val="262626"/>
                </a:solidFill>
                <a:latin typeface="Mont Book"/>
              </a:rPr>
              <a:t>Query in </a:t>
            </a:r>
            <a:r>
              <a:rPr lang="nl-NL" altLang="en-NL" sz="1900" dirty="0" err="1">
                <a:solidFill>
                  <a:srgbClr val="262626"/>
                </a:solidFill>
                <a:latin typeface="Mont Book"/>
              </a:rPr>
              <a:t>specific</a:t>
            </a:r>
            <a:r>
              <a:rPr lang="nl-NL" altLang="en-NL" sz="1900" dirty="0">
                <a:solidFill>
                  <a:srgbClr val="262626"/>
                </a:solidFill>
                <a:latin typeface="Mont Book"/>
              </a:rPr>
              <a:t> CRS</a:t>
            </a:r>
          </a:p>
          <a:p>
            <a:pPr lvl="1">
              <a:lnSpc>
                <a:spcPct val="110000"/>
              </a:lnSpc>
            </a:pPr>
            <a:r>
              <a:rPr lang="nl-NL" altLang="en-NL" sz="1900" dirty="0">
                <a:solidFill>
                  <a:srgbClr val="262626"/>
                </a:solidFill>
                <a:latin typeface="Mont Book"/>
              </a:rPr>
              <a:t>The default is CRS84</a:t>
            </a:r>
            <a:endParaRPr lang="en-US" b="1" dirty="0">
              <a:solidFill>
                <a:srgbClr val="E83E8C"/>
              </a:solidFill>
              <a:latin typeface="SFMono-Regular"/>
            </a:endParaRPr>
          </a:p>
          <a:p>
            <a:endParaRPr lang="en-US" dirty="0">
              <a:solidFill>
                <a:srgbClr val="E83E8C"/>
              </a:solidFill>
              <a:latin typeface="SFMono-Regular"/>
            </a:endParaRPr>
          </a:p>
          <a:p>
            <a:endParaRPr lang="en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AB65EE0-695B-457F-0E2F-E8C212BB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8</a:t>
            </a:fld>
            <a:endParaRPr lang="nl-NL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919E68A-4246-6E7C-0641-377A849E5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012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54827-09DB-5C39-BFDC-4E82BCE3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9F1C8-CB80-26A0-EE80-DE9C00AC2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Put the Repo on your computer</a:t>
            </a:r>
          </a:p>
          <a:p>
            <a:pPr lvl="1"/>
            <a:r>
              <a:rPr lang="en-US" dirty="0">
                <a:hlinkClick r:id="rId2"/>
              </a:rPr>
              <a:t>https://github.com/Geonovum/ogc-api-kennissessie</a:t>
            </a:r>
            <a:endParaRPr lang="en-US" dirty="0"/>
          </a:p>
          <a:p>
            <a:r>
              <a:rPr lang="en-US" dirty="0"/>
              <a:t>Install:</a:t>
            </a:r>
          </a:p>
          <a:p>
            <a:pPr lvl="1"/>
            <a:r>
              <a:rPr lang="en-US" dirty="0"/>
              <a:t>VS Code</a:t>
            </a:r>
          </a:p>
          <a:p>
            <a:pPr lvl="1"/>
            <a:r>
              <a:rPr lang="en-US" dirty="0"/>
              <a:t>NodeJS</a:t>
            </a:r>
          </a:p>
          <a:p>
            <a:pPr lvl="1"/>
            <a:r>
              <a:rPr lang="en-US" dirty="0"/>
              <a:t>Bruno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3AC05-57D7-09D2-5EF0-45870B1A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5768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7C92-BDB5-E796-B573-21D079B27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1A56-6846-5768-9BB5-76D85344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 up the server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88C7C-FB22-9D57-DFAB-ED79035E9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10</a:t>
            </a:fld>
            <a:endParaRPr lang="nl-NL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CF529F-300C-DE6B-96F5-9E42412E0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7609" y="1372472"/>
            <a:ext cx="8068381" cy="5264867"/>
          </a:xfr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1777739-4F45-62AE-6432-D8EF1988C9F1}"/>
              </a:ext>
            </a:extLst>
          </p:cNvPr>
          <p:cNvSpPr/>
          <p:nvPr/>
        </p:nvSpPr>
        <p:spPr>
          <a:xfrm>
            <a:off x="4277249" y="3908808"/>
            <a:ext cx="1269442" cy="643095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7F6FAF-4659-2283-785C-AB142B75DF4F}"/>
              </a:ext>
            </a:extLst>
          </p:cNvPr>
          <p:cNvSpPr/>
          <p:nvPr/>
        </p:nvSpPr>
        <p:spPr>
          <a:xfrm>
            <a:off x="2111829" y="1280160"/>
            <a:ext cx="1269442" cy="643095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DD72A5-DE2C-8DCD-EAC8-DB48AEB50C47}"/>
              </a:ext>
            </a:extLst>
          </p:cNvPr>
          <p:cNvSpPr txBox="1"/>
          <p:nvPr/>
        </p:nvSpPr>
        <p:spPr>
          <a:xfrm>
            <a:off x="3260599" y="173858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71FC9-A32F-CB88-CA3F-146547F235D2}"/>
              </a:ext>
            </a:extLst>
          </p:cNvPr>
          <p:cNvSpPr txBox="1"/>
          <p:nvPr/>
        </p:nvSpPr>
        <p:spPr>
          <a:xfrm>
            <a:off x="5546691" y="4284171"/>
            <a:ext cx="30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40478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A80E4-50E5-939B-921A-E1582117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A34C017C-09F9-D3AA-E0D1-B4F8B44EA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2694" y="1508551"/>
            <a:ext cx="4580871" cy="377688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D1EF2A-A918-1766-3214-FF9C01DA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server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DAB25-5442-0B86-CA9A-77521090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11</a:t>
            </a:fld>
            <a:endParaRPr lang="nl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16FFD2-C9E4-9FAE-38D6-485ED8FEA5E9}"/>
              </a:ext>
            </a:extLst>
          </p:cNvPr>
          <p:cNvSpPr/>
          <p:nvPr/>
        </p:nvSpPr>
        <p:spPr>
          <a:xfrm>
            <a:off x="4387781" y="1508551"/>
            <a:ext cx="1269442" cy="643095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9F67822-D053-AF8C-0A22-3D07658BB63F}"/>
              </a:ext>
            </a:extLst>
          </p:cNvPr>
          <p:cNvSpPr/>
          <p:nvPr/>
        </p:nvSpPr>
        <p:spPr>
          <a:xfrm>
            <a:off x="3006132" y="4372332"/>
            <a:ext cx="1269442" cy="643095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F3588B-BFB4-8901-E7FD-8F128BF212BC}"/>
              </a:ext>
            </a:extLst>
          </p:cNvPr>
          <p:cNvSpPr txBox="1"/>
          <p:nvPr/>
        </p:nvSpPr>
        <p:spPr>
          <a:xfrm>
            <a:off x="2625405" y="450921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450699-EF60-8A84-5861-EAA0B7DF512A}"/>
              </a:ext>
            </a:extLst>
          </p:cNvPr>
          <p:cNvSpPr txBox="1"/>
          <p:nvPr/>
        </p:nvSpPr>
        <p:spPr>
          <a:xfrm>
            <a:off x="4870056" y="1084023"/>
            <a:ext cx="30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9457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98578-CF11-41B8-10AC-F8F5ADD9E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7451-102C-D194-B722-68836A25D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server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B657C-879C-A61D-34E9-4C93DA37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12</a:t>
            </a:fld>
            <a:endParaRPr lang="nl-NL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4FD0F6-BCF8-E308-AE03-616642C95F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3759" y="1372468"/>
            <a:ext cx="8224481" cy="535717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CC03CBC-6169-DE1B-CD50-3163A2DBBBB2}"/>
              </a:ext>
            </a:extLst>
          </p:cNvPr>
          <p:cNvSpPr/>
          <p:nvPr/>
        </p:nvSpPr>
        <p:spPr>
          <a:xfrm>
            <a:off x="3197050" y="3940253"/>
            <a:ext cx="3615732" cy="2259580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3615732"/>
                      <a:gd name="csY0" fmla="*/ 1129790 h 2259580"/>
                      <a:gd name="csX1" fmla="*/ 1807866 w 3615732"/>
                      <a:gd name="csY1" fmla="*/ 0 h 2259580"/>
                      <a:gd name="csX2" fmla="*/ 3615732 w 3615732"/>
                      <a:gd name="csY2" fmla="*/ 1129790 h 2259580"/>
                      <a:gd name="csX3" fmla="*/ 1807866 w 3615732"/>
                      <a:gd name="csY3" fmla="*/ 2259580 h 2259580"/>
                      <a:gd name="csX4" fmla="*/ 0 w 3615732"/>
                      <a:gd name="csY4" fmla="*/ 1129790 h 225958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615732" h="2259580" extrusionOk="0">
                        <a:moveTo>
                          <a:pt x="0" y="1129790"/>
                        </a:moveTo>
                        <a:cubicBezTo>
                          <a:pt x="-170422" y="400704"/>
                          <a:pt x="672766" y="51284"/>
                          <a:pt x="1807866" y="0"/>
                        </a:cubicBezTo>
                        <a:cubicBezTo>
                          <a:pt x="2846498" y="8458"/>
                          <a:pt x="3510884" y="509158"/>
                          <a:pt x="3615732" y="1129790"/>
                        </a:cubicBezTo>
                        <a:cubicBezTo>
                          <a:pt x="3522792" y="1844517"/>
                          <a:pt x="2764415" y="2491221"/>
                          <a:pt x="1807866" y="2259580"/>
                        </a:cubicBezTo>
                        <a:cubicBezTo>
                          <a:pt x="659358" y="2177484"/>
                          <a:pt x="70084" y="1787242"/>
                          <a:pt x="0" y="112979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4ADE5EE-F515-5955-AAF4-97E937C82E0B}"/>
              </a:ext>
            </a:extLst>
          </p:cNvPr>
          <p:cNvSpPr/>
          <p:nvPr/>
        </p:nvSpPr>
        <p:spPr>
          <a:xfrm>
            <a:off x="6997002" y="1280160"/>
            <a:ext cx="1634532" cy="710460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sX0" fmla="*/ 0 w 1634532"/>
                      <a:gd name="csY0" fmla="*/ 355230 h 710460"/>
                      <a:gd name="csX1" fmla="*/ 817266 w 1634532"/>
                      <a:gd name="csY1" fmla="*/ 0 h 710460"/>
                      <a:gd name="csX2" fmla="*/ 1634532 w 1634532"/>
                      <a:gd name="csY2" fmla="*/ 355230 h 710460"/>
                      <a:gd name="csX3" fmla="*/ 817266 w 1634532"/>
                      <a:gd name="csY3" fmla="*/ 710460 h 710460"/>
                      <a:gd name="csX4" fmla="*/ 0 w 1634532"/>
                      <a:gd name="csY4" fmla="*/ 355230 h 71046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634532" h="710460" extrusionOk="0">
                        <a:moveTo>
                          <a:pt x="0" y="355230"/>
                        </a:moveTo>
                        <a:cubicBezTo>
                          <a:pt x="-97847" y="163227"/>
                          <a:pt x="375689" y="9622"/>
                          <a:pt x="817266" y="0"/>
                        </a:cubicBezTo>
                        <a:cubicBezTo>
                          <a:pt x="1274394" y="11831"/>
                          <a:pt x="1636276" y="212266"/>
                          <a:pt x="1634532" y="355230"/>
                        </a:cubicBezTo>
                        <a:cubicBezTo>
                          <a:pt x="1612705" y="518487"/>
                          <a:pt x="1293704" y="740776"/>
                          <a:pt x="817266" y="710460"/>
                        </a:cubicBezTo>
                        <a:cubicBezTo>
                          <a:pt x="370626" y="692890"/>
                          <a:pt x="12239" y="574237"/>
                          <a:pt x="0" y="35523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82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FEC6-B0FF-EFEA-4062-35C93B59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 – Ready Player One? Let’s do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B2E7E-0CB8-87B0-A305-546938005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72" y="3233358"/>
            <a:ext cx="11587855" cy="176281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https://docs.ogc.org/DRAFTS/20-002r1.html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2E887-A931-0249-A931-ABF76E4C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13</a:t>
            </a:fld>
            <a:endParaRPr lang="nl-NL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4195D3C-CB6E-D178-4EAB-092C134DC384}"/>
              </a:ext>
            </a:extLst>
          </p:cNvPr>
          <p:cNvPicPr>
            <a:picLocks noChangeAspect="1"/>
          </p:cNvPicPr>
          <p:nvPr/>
        </p:nvPicPr>
        <p:blipFill>
          <a:blip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00038" y="1593562"/>
            <a:ext cx="7772400" cy="95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68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D8EB-37FE-DA4A-4701-BB5895113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- Create</a:t>
            </a:r>
          </a:p>
        </p:txBody>
      </p:sp>
      <p:pic>
        <p:nvPicPr>
          <p:cNvPr id="6" name="Content Placeholder 5" descr="A screenshot of a computer screen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61237F02-BE62-93DD-D2D0-59E3DCDEC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cstate="screen">
            <a:clrChange>
              <a:clrFrom>
                <a:srgbClr val="F7F7F8"/>
              </a:clrFrom>
              <a:clrTo>
                <a:srgbClr val="F7F7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509643"/>
            <a:ext cx="11780062" cy="456960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ECA04-F583-7E8F-4DF2-6132720D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7676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9CDB0-730F-25AF-99B2-0A910A7F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318D-5019-DE87-2E8D-5C237CE5B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- Create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C79F6-6A54-5310-8CA8-9349E8ED4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15</a:t>
            </a:fld>
            <a:endParaRPr lang="nl-NL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D6795C-5C51-4F6D-3682-6F8F5EEFA3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7268" y="1455476"/>
            <a:ext cx="8977463" cy="518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9A5F7-053D-607F-8C11-65D097A73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3D02-42E7-5F0C-EC2D-AC1751547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 - Replace</a:t>
            </a:r>
          </a:p>
        </p:txBody>
      </p:sp>
      <p:pic>
        <p:nvPicPr>
          <p:cNvPr id="6" name="Content Placeholder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FEDDEBB-7251-9177-A0AF-A1D3C52FB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clrChange>
              <a:clrFrom>
                <a:srgbClr val="F7F7F8"/>
              </a:clrFrom>
              <a:clrTo>
                <a:srgbClr val="F7F7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848" y="1708841"/>
            <a:ext cx="11096304" cy="373864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21519-9E9D-CEB1-C2F5-6A26AD0E5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876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155D9-3BFA-321B-E012-B7C703FDD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7BA00-C412-72F8-CF8F-A11195B0E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 - Replace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238F6-D5C2-6E91-20D8-8ED171A5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17</a:t>
            </a:fld>
            <a:endParaRPr lang="nl-NL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4FC09C-23F6-3044-B231-CFF5B7ECF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4498" y="1353820"/>
            <a:ext cx="8983004" cy="5283519"/>
          </a:xfrm>
        </p:spPr>
      </p:pic>
    </p:spTree>
    <p:extLst>
      <p:ext uri="{BB962C8B-B14F-4D97-AF65-F5344CB8AC3E}">
        <p14:creationId xmlns:p14="http://schemas.microsoft.com/office/powerpoint/2010/main" val="353784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8D2F3-048C-29DF-EF03-34ADB5628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CCAD-6F8E-B15B-AB16-DFD5B3B3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- Delete</a:t>
            </a:r>
          </a:p>
        </p:txBody>
      </p:sp>
      <p:pic>
        <p:nvPicPr>
          <p:cNvPr id="6" name="Content Placeholder 5" descr="A close-up of a screen&#10;&#10;AI-generated content may be incorrect.">
            <a:extLst>
              <a:ext uri="{FF2B5EF4-FFF2-40B4-BE49-F238E27FC236}">
                <a16:creationId xmlns:a16="http://schemas.microsoft.com/office/drawing/2014/main" id="{82F2DAD1-6932-8E56-E30F-2C100CE52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clrChange>
              <a:clrFrom>
                <a:srgbClr val="F7F7F8"/>
              </a:clrFrom>
              <a:clrTo>
                <a:srgbClr val="F7F7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305" y="1628663"/>
            <a:ext cx="11832618" cy="30116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3DE99-93C3-495D-70A1-5B40DE24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8590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D5C45-7EFF-E837-52FD-814C0BF42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2EAD-202A-ADA2-4B73-C88561344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</a:t>
            </a:r>
          </a:p>
        </p:txBody>
      </p:sp>
      <p:pic>
        <p:nvPicPr>
          <p:cNvPr id="6" name="Content Placeholder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1A2EFC2-0D04-509F-43BD-E7B475595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clrChange>
              <a:clrFrom>
                <a:srgbClr val="F7F7F8"/>
              </a:clrFrom>
              <a:clrTo>
                <a:srgbClr val="F7F7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155" y="1657501"/>
            <a:ext cx="11430752" cy="328414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5EEEA-1909-F230-4268-3AF1475C4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8934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F85E-C85F-245E-C8FD-EFC7D8CDE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8D2A-75B5-E69C-138E-89F8EC625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268BA-9D64-A8E8-04E0-2250A8033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20</a:t>
            </a:fld>
            <a:endParaRPr lang="nl-NL"/>
          </a:p>
        </p:txBody>
      </p:sp>
      <p:pic>
        <p:nvPicPr>
          <p:cNvPr id="8" name="Content Placeholder 7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52599A96-0CBB-208F-2D40-387E70447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cstate="screen">
            <a:clrChange>
              <a:clrFrom>
                <a:srgbClr val="F7F7F8"/>
              </a:clrFrom>
              <a:clrTo>
                <a:srgbClr val="F7F7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3904" y="4286382"/>
            <a:ext cx="7903595" cy="2176973"/>
          </a:xfrm>
        </p:spPr>
      </p:pic>
      <p:pic>
        <p:nvPicPr>
          <p:cNvPr id="10" name="Picture 9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E78C9B86-D70F-49A9-B909-5609F7857A13}"/>
              </a:ext>
            </a:extLst>
          </p:cNvPr>
          <p:cNvPicPr>
            <a:picLocks noChangeAspect="1"/>
          </p:cNvPicPr>
          <p:nvPr/>
        </p:nvPicPr>
        <p:blipFill>
          <a:blip cstate="screen">
            <a:clrChange>
              <a:clrFrom>
                <a:srgbClr val="F7F7F8"/>
              </a:clrFrom>
              <a:clrTo>
                <a:srgbClr val="F7F7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3905" y="1280160"/>
            <a:ext cx="7772400" cy="216256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57B0C165-2909-663A-7712-F117F46980A5}"/>
              </a:ext>
            </a:extLst>
          </p:cNvPr>
          <p:cNvSpPr/>
          <p:nvPr/>
        </p:nvSpPr>
        <p:spPr>
          <a:xfrm>
            <a:off x="5693494" y="1738536"/>
            <a:ext cx="794853" cy="586378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sX0" fmla="*/ 0 w 1634532"/>
                      <a:gd name="csY0" fmla="*/ 355230 h 710460"/>
                      <a:gd name="csX1" fmla="*/ 817266 w 1634532"/>
                      <a:gd name="csY1" fmla="*/ 0 h 710460"/>
                      <a:gd name="csX2" fmla="*/ 1634532 w 1634532"/>
                      <a:gd name="csY2" fmla="*/ 355230 h 710460"/>
                      <a:gd name="csX3" fmla="*/ 817266 w 1634532"/>
                      <a:gd name="csY3" fmla="*/ 710460 h 710460"/>
                      <a:gd name="csX4" fmla="*/ 0 w 1634532"/>
                      <a:gd name="csY4" fmla="*/ 355230 h 71046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634532" h="710460" extrusionOk="0">
                        <a:moveTo>
                          <a:pt x="0" y="355230"/>
                        </a:moveTo>
                        <a:cubicBezTo>
                          <a:pt x="-97847" y="163227"/>
                          <a:pt x="375689" y="9622"/>
                          <a:pt x="817266" y="0"/>
                        </a:cubicBezTo>
                        <a:cubicBezTo>
                          <a:pt x="1274394" y="11831"/>
                          <a:pt x="1636276" y="212266"/>
                          <a:pt x="1634532" y="355230"/>
                        </a:cubicBezTo>
                        <a:cubicBezTo>
                          <a:pt x="1612705" y="518487"/>
                          <a:pt x="1293704" y="740776"/>
                          <a:pt x="817266" y="710460"/>
                        </a:cubicBezTo>
                        <a:cubicBezTo>
                          <a:pt x="370626" y="692890"/>
                          <a:pt x="12239" y="574237"/>
                          <a:pt x="0" y="35523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2E23F8-BAA2-3150-10DD-FFD9779199C8}"/>
              </a:ext>
            </a:extLst>
          </p:cNvPr>
          <p:cNvSpPr/>
          <p:nvPr/>
        </p:nvSpPr>
        <p:spPr>
          <a:xfrm>
            <a:off x="5712951" y="4664408"/>
            <a:ext cx="1634532" cy="710460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sX0" fmla="*/ 0 w 1634532"/>
                      <a:gd name="csY0" fmla="*/ 355230 h 710460"/>
                      <a:gd name="csX1" fmla="*/ 817266 w 1634532"/>
                      <a:gd name="csY1" fmla="*/ 0 h 710460"/>
                      <a:gd name="csX2" fmla="*/ 1634532 w 1634532"/>
                      <a:gd name="csY2" fmla="*/ 355230 h 710460"/>
                      <a:gd name="csX3" fmla="*/ 817266 w 1634532"/>
                      <a:gd name="csY3" fmla="*/ 710460 h 710460"/>
                      <a:gd name="csX4" fmla="*/ 0 w 1634532"/>
                      <a:gd name="csY4" fmla="*/ 355230 h 71046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634532" h="710460" extrusionOk="0">
                        <a:moveTo>
                          <a:pt x="0" y="355230"/>
                        </a:moveTo>
                        <a:cubicBezTo>
                          <a:pt x="-97847" y="163227"/>
                          <a:pt x="375689" y="9622"/>
                          <a:pt x="817266" y="0"/>
                        </a:cubicBezTo>
                        <a:cubicBezTo>
                          <a:pt x="1274394" y="11831"/>
                          <a:pt x="1636276" y="212266"/>
                          <a:pt x="1634532" y="355230"/>
                        </a:cubicBezTo>
                        <a:cubicBezTo>
                          <a:pt x="1612705" y="518487"/>
                          <a:pt x="1293704" y="740776"/>
                          <a:pt x="817266" y="710460"/>
                        </a:cubicBezTo>
                        <a:cubicBezTo>
                          <a:pt x="370626" y="692890"/>
                          <a:pt x="12239" y="574237"/>
                          <a:pt x="0" y="35523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24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B50FD-6DE7-E5A6-D492-3E57A803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BB74F-5366-67BB-D44B-A06BA8A9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PATCH - Update </a:t>
            </a:r>
          </a:p>
        </p:txBody>
      </p:sp>
      <p:pic>
        <p:nvPicPr>
          <p:cNvPr id="6" name="Content Placeholder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88A54F7-2D3A-1086-1884-C1BF6F8B8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clrChange>
              <a:clrFrom>
                <a:srgbClr val="F7F7F8"/>
              </a:clrFrom>
              <a:clrTo>
                <a:srgbClr val="F7F7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277" y="1633857"/>
            <a:ext cx="10584084" cy="411518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0E075-BA79-C13E-8197-01C5C01A5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6493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EE061-FAE5-DD4D-A380-F4D59C368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B6E4B-F2CF-EA8C-266A-3D7F6149C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PATCH – Update. Schema impositions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C4B4A-1EC0-CC03-2E2B-32C73EE3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22</a:t>
            </a:fld>
            <a:endParaRPr lang="nl-NL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45BF1C-5CCB-11FE-AFAD-59D1A65F4B2E}"/>
              </a:ext>
            </a:extLst>
          </p:cNvPr>
          <p:cNvPicPr>
            <a:picLocks noChangeAspect="1"/>
          </p:cNvPicPr>
          <p:nvPr/>
        </p:nvPicPr>
        <p:blipFill>
          <a:blip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654" y="1482740"/>
            <a:ext cx="11603053" cy="416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81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FB85D-1ED5-C184-CF61-8D969175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7C58-8028-8654-24E9-4B66D8A7B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Optimistic Locking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01E2A-904B-459C-2E68-8AB2BE6A8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Timestamps</a:t>
            </a:r>
          </a:p>
          <a:p>
            <a:r>
              <a:rPr lang="en-US"/>
              <a:t>ETags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616BC-66A5-39AB-4C7C-B941952F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2716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92600-4ADA-A77E-83A4-22BB5AE72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18C8DDAF-EF2B-5504-2DE0-0E775110AE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855" y="1524404"/>
            <a:ext cx="10559903" cy="4691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9C6FCF-6F4C-FE19-6F34-7630EBEA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Optimistic Locking – server side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70FC4-3EC9-719B-B632-9F43528E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24</a:t>
            </a:fld>
            <a:endParaRPr lang="nl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3B7582-DE04-8B7D-CBA0-8E8B642B4816}"/>
              </a:ext>
            </a:extLst>
          </p:cNvPr>
          <p:cNvSpPr/>
          <p:nvPr/>
        </p:nvSpPr>
        <p:spPr>
          <a:xfrm>
            <a:off x="1189587" y="4813534"/>
            <a:ext cx="3032215" cy="1402439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sX0" fmla="*/ 0 w 1634532"/>
                      <a:gd name="csY0" fmla="*/ 355230 h 710460"/>
                      <a:gd name="csX1" fmla="*/ 817266 w 1634532"/>
                      <a:gd name="csY1" fmla="*/ 0 h 710460"/>
                      <a:gd name="csX2" fmla="*/ 1634532 w 1634532"/>
                      <a:gd name="csY2" fmla="*/ 355230 h 710460"/>
                      <a:gd name="csX3" fmla="*/ 817266 w 1634532"/>
                      <a:gd name="csY3" fmla="*/ 710460 h 710460"/>
                      <a:gd name="csX4" fmla="*/ 0 w 1634532"/>
                      <a:gd name="csY4" fmla="*/ 355230 h 71046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634532" h="710460" extrusionOk="0">
                        <a:moveTo>
                          <a:pt x="0" y="355230"/>
                        </a:moveTo>
                        <a:cubicBezTo>
                          <a:pt x="-97847" y="163227"/>
                          <a:pt x="375689" y="9622"/>
                          <a:pt x="817266" y="0"/>
                        </a:cubicBezTo>
                        <a:cubicBezTo>
                          <a:pt x="1274394" y="11831"/>
                          <a:pt x="1636276" y="212266"/>
                          <a:pt x="1634532" y="355230"/>
                        </a:cubicBezTo>
                        <a:cubicBezTo>
                          <a:pt x="1612705" y="518487"/>
                          <a:pt x="1293704" y="740776"/>
                          <a:pt x="817266" y="710460"/>
                        </a:cubicBezTo>
                        <a:cubicBezTo>
                          <a:pt x="370626" y="692890"/>
                          <a:pt x="12239" y="574237"/>
                          <a:pt x="0" y="35523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64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DFACE-1E70-FC2B-6725-51DC8A746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F157-5E25-5BAA-9924-C0256DC62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Optimistic Locking - </a:t>
            </a:r>
            <a:r>
              <a:rPr lang="en-US" dirty="0"/>
              <a:t>Timestamps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AD209-4494-66DF-EB3A-7B7C33CE9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Last-Modified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If-Unmodified-Since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AA915-F843-6A34-6A71-6A0D6E44B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25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A2573-DA6C-622F-BA8B-2B4555B4242A}"/>
              </a:ext>
            </a:extLst>
          </p:cNvPr>
          <p:cNvPicPr>
            <a:picLocks noChangeAspect="1"/>
          </p:cNvPicPr>
          <p:nvPr/>
        </p:nvPicPr>
        <p:blipFill>
          <a:blip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022" y="3232249"/>
            <a:ext cx="11192070" cy="1086832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2630EF-8589-3B76-C6D3-6FB5E95A0B7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29983" y="4064400"/>
            <a:ext cx="5073842" cy="254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42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F9E5-84AE-1EBD-3905-D3F9BB72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0E96-B823-3F8F-8483-79C18197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Optimistic Locking - </a:t>
            </a:r>
            <a:r>
              <a:rPr lang="en-US" dirty="0"/>
              <a:t>Timestamps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7589F-A479-FCD6-B338-D5EBE778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26</a:t>
            </a:fld>
            <a:endParaRPr lang="nl-NL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BC568F-9F12-1144-E235-2F88DFD6B32C}"/>
              </a:ext>
            </a:extLst>
          </p:cNvPr>
          <p:cNvPicPr>
            <a:picLocks noChangeAspect="1"/>
          </p:cNvPicPr>
          <p:nvPr/>
        </p:nvPicPr>
        <p:blipFill>
          <a:blip cstate="screen">
            <a:clrChange>
              <a:clrFrom>
                <a:srgbClr val="F7F7F8"/>
              </a:clrFrom>
              <a:clrTo>
                <a:srgbClr val="F7F7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772" y="1130300"/>
            <a:ext cx="4859405" cy="572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662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91DDA-986E-7EFB-D863-5C5E8C0B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7619E-FB2A-6D3C-ABEA-7E6C4CAB8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Optimistic Locking - </a:t>
            </a:r>
            <a:r>
              <a:rPr lang="en-US" dirty="0"/>
              <a:t>ETags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CAF1D-E6AD-5CFE-5926-4D9855AF3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Entity tag – an identifier for a specific version of a </a:t>
            </a:r>
            <a:r>
              <a:rPr lang="en-US" i="1" dirty="0"/>
              <a:t>resource</a:t>
            </a:r>
          </a:p>
          <a:p>
            <a:endParaRPr lang="en-US" dirty="0"/>
          </a:p>
          <a:p>
            <a:r>
              <a:rPr lang="en-US" dirty="0"/>
              <a:t>Weak </a:t>
            </a:r>
            <a:r>
              <a:rPr lang="en-US" dirty="0" err="1"/>
              <a:t>Etag</a:t>
            </a:r>
            <a:endParaRPr lang="en-US" dirty="0"/>
          </a:p>
          <a:p>
            <a:pPr lvl="1"/>
            <a:r>
              <a:rPr lang="en-US" dirty="0"/>
              <a:t>Opaque value, not related to version of the resource</a:t>
            </a:r>
          </a:p>
          <a:p>
            <a:r>
              <a:rPr lang="en-US" u="sng" dirty="0"/>
              <a:t>Strong </a:t>
            </a:r>
            <a:r>
              <a:rPr lang="en-US" u="sng" dirty="0" err="1"/>
              <a:t>Etag</a:t>
            </a:r>
            <a:endParaRPr lang="en-US" u="sng" dirty="0"/>
          </a:p>
          <a:p>
            <a:pPr lvl="1"/>
            <a:r>
              <a:rPr lang="en-US" dirty="0"/>
              <a:t>Opaque value, derived from a specific version of a resource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53816-7041-88E8-4040-32ABEA89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27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CD3267-370C-D720-43D1-506702EDEE8E}"/>
              </a:ext>
            </a:extLst>
          </p:cNvPr>
          <p:cNvPicPr>
            <a:picLocks noChangeAspect="1"/>
          </p:cNvPicPr>
          <p:nvPr/>
        </p:nvPicPr>
        <p:blipFill>
          <a:blip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038" y="5031901"/>
            <a:ext cx="11874240" cy="98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54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0B4A0-F5CA-80AA-1B1C-1F197E47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9AEC4-245C-5FA0-A052-A41EE039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Optimistic Locking – Strong </a:t>
            </a:r>
            <a:r>
              <a:rPr lang="en-US" dirty="0"/>
              <a:t>ETags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9C820-0DC0-8480-32E5-E8F6C715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28</a:t>
            </a:fld>
            <a:endParaRPr lang="nl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2DE066-4C8D-B755-8B82-A88548CB33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542" y="1966601"/>
            <a:ext cx="10408502" cy="537048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87E78F-59A6-1D8D-1E62-291CCB771C8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1050" y="2784976"/>
            <a:ext cx="5149900" cy="403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3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E433E-612F-2075-EF51-55E150030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D4D1-774B-0B02-4598-E69D81B03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Optimistic Locking – Strong </a:t>
            </a:r>
            <a:r>
              <a:rPr lang="en-US" dirty="0"/>
              <a:t>ETags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A926E-FB11-657A-F248-1725F86BC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29</a:t>
            </a:fld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C3CEE-CC15-34FD-5B7B-50FCE1660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8" y="1520825"/>
            <a:ext cx="11587855" cy="49323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If-Match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C856AA-E814-5271-57C2-A435DF604EEB}"/>
              </a:ext>
            </a:extLst>
          </p:cNvPr>
          <p:cNvPicPr>
            <a:picLocks noChangeAspect="1"/>
          </p:cNvPicPr>
          <p:nvPr/>
        </p:nvPicPr>
        <p:blipFill>
          <a:blip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470" y="2511357"/>
            <a:ext cx="10320729" cy="52367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2299FA-CC40-1E0B-D096-341ACD7F503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4879" y="3228625"/>
            <a:ext cx="6393910" cy="322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548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93E8D-F2C1-1705-B6CD-71992FE4E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4B70A-878C-CEC1-F435-CBD07D4E9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Optimistic Locking – Strong </a:t>
            </a:r>
            <a:r>
              <a:rPr lang="en-US" dirty="0"/>
              <a:t>ETags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F361-AC62-D3F3-B205-7B272385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30</a:t>
            </a:fld>
            <a:endParaRPr lang="nl-NL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A9D649-617A-222E-6B96-5DDF4B707980}"/>
              </a:ext>
            </a:extLst>
          </p:cNvPr>
          <p:cNvPicPr>
            <a:picLocks noChangeAspect="1"/>
          </p:cNvPicPr>
          <p:nvPr/>
        </p:nvPicPr>
        <p:blipFill>
          <a:blip cstate="screen">
            <a:clrChange>
              <a:clrFrom>
                <a:srgbClr val="F7F7F8"/>
              </a:clrFrom>
              <a:clrTo>
                <a:srgbClr val="F7F7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0270" y="1210629"/>
            <a:ext cx="4767630" cy="56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650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F1442-59BC-F4AA-84F5-41614B51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Bonus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6F1CC-6D60-5596-55BA-677051C4A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OGC API - Features - Part 11: Atomic and Batch Transactions</a:t>
            </a:r>
          </a:p>
          <a:p>
            <a:r>
              <a:rPr lang="en-US" dirty="0"/>
              <a:t>https://</a:t>
            </a:r>
            <a:r>
              <a:rPr lang="en-US" dirty="0" err="1"/>
              <a:t>docs.ogc.org</a:t>
            </a:r>
            <a:r>
              <a:rPr lang="en-US" dirty="0"/>
              <a:t>/DRAFTS/26-018.html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A4F67-3A81-7890-9A46-4E505D488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09476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ACBE8CC-58DC-1303-F27C-EB90E74D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Bedankt!</a:t>
            </a:r>
          </a:p>
        </p:txBody>
      </p:sp>
    </p:spTree>
    <p:extLst>
      <p:ext uri="{BB962C8B-B14F-4D97-AF65-F5344CB8AC3E}">
        <p14:creationId xmlns:p14="http://schemas.microsoft.com/office/powerpoint/2010/main" val="430122001"/>
      </p:ext>
    </p:extLst>
  </p:cSld>
  <p:clrMapOvr>
    <a:masterClrMapping/>
  </p:clrMapOvr>
</p:sld>
</file>

<file path=ppt/theme/theme1.xml><?xml version="1.0" encoding="utf-8"?>
<a:theme xmlns:a="http://schemas.openxmlformats.org/drawingml/2006/main" name="Geonovum">
  <a:themeElements>
    <a:clrScheme name="Geonovum 2022">
      <a:dk1>
        <a:srgbClr val="3C3C3C"/>
      </a:dk1>
      <a:lt1>
        <a:sysClr val="window" lastClr="FFFFFF"/>
      </a:lt1>
      <a:dk2>
        <a:srgbClr val="64686B"/>
      </a:dk2>
      <a:lt2>
        <a:srgbClr val="EEEEEE"/>
      </a:lt2>
      <a:accent1>
        <a:srgbClr val="97C00E"/>
      </a:accent1>
      <a:accent2>
        <a:srgbClr val="64686B"/>
      </a:accent2>
      <a:accent3>
        <a:srgbClr val="0085C6"/>
      </a:accent3>
      <a:accent4>
        <a:srgbClr val="97C00E"/>
      </a:accent4>
      <a:accent5>
        <a:srgbClr val="64686B"/>
      </a:accent5>
      <a:accent6>
        <a:srgbClr val="0085C6"/>
      </a:accent6>
      <a:hlink>
        <a:srgbClr val="0085C6"/>
      </a:hlink>
      <a:folHlink>
        <a:srgbClr val="64686B"/>
      </a:folHlink>
    </a:clrScheme>
    <a:fontScheme name="Geonovum 2022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Geonovum Presentatie Leeg" id="{716796FB-ADAB-4D00-9236-B46152BFB9EE}" vid="{5F87CC6B-FD91-4B34-9A3F-79D51A67B32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6A073BBB3FB3429D87D77C40313058" ma:contentTypeVersion="17" ma:contentTypeDescription="Een nieuw document maken." ma:contentTypeScope="" ma:versionID="d029de722713fbda088f474ab55a8f91">
  <xsd:schema xmlns:xsd="http://www.w3.org/2001/XMLSchema" xmlns:xs="http://www.w3.org/2001/XMLSchema" xmlns:p="http://schemas.microsoft.com/office/2006/metadata/properties" xmlns:ns2="385505e6-e5d7-4f1a-b335-045f4e6272b3" xmlns:ns3="86b5f7f7-2f15-447a-b5f6-1e4312ec3a6d" targetNamespace="http://schemas.microsoft.com/office/2006/metadata/properties" ma:root="true" ma:fieldsID="f9978f67d981c86fda37d097ac6baa60" ns2:_="" ns3:_="">
    <xsd:import namespace="385505e6-e5d7-4f1a-b335-045f4e6272b3"/>
    <xsd:import namespace="86b5f7f7-2f15-447a-b5f6-1e4312ec3a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5505e6-e5d7-4f1a-b335-045f4e6272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ece1ab0c-3d38-4605-9abd-f7fc75f3b0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b5f7f7-2f15-447a-b5f6-1e4312ec3a6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8b36c94-b9c1-4ed1-a4e5-64fd1c764bee}" ma:internalName="TaxCatchAll" ma:showField="CatchAllData" ma:web="86b5f7f7-2f15-447a-b5f6-1e4312ec3a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b5f7f7-2f15-447a-b5f6-1e4312ec3a6d" xsi:nil="true"/>
    <lcf76f155ced4ddcb4097134ff3c332f xmlns="385505e6-e5d7-4f1a-b335-045f4e6272b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F271486-D441-47CB-A913-F70AEA300F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9ABABC-9481-4A5F-952C-6FB52F87C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5505e6-e5d7-4f1a-b335-045f4e6272b3"/>
    <ds:schemaRef ds:uri="86b5f7f7-2f15-447a-b5f6-1e4312ec3a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10A444-8D14-4577-AFED-72C37F26002F}">
  <ds:schemaRefs>
    <ds:schemaRef ds:uri="http://schemas.microsoft.com/office/2006/metadata/properties"/>
    <ds:schemaRef ds:uri="http://schemas.microsoft.com/office/infopath/2007/PartnerControls"/>
    <ds:schemaRef ds:uri="86b5f7f7-2f15-447a-b5f6-1e4312ec3a6d"/>
    <ds:schemaRef ds:uri="385505e6-e5d7-4f1a-b335-045f4e6272b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Geonovum Presentatie Leeg</Template>
  <TotalTime>1132</TotalTime>
  <Words>737</Words>
  <Application>Microsoft Macintosh PowerPoint</Application>
  <PresentationFormat>Widescreen</PresentationFormat>
  <Paragraphs>187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Aptos</vt:lpstr>
      <vt:lpstr>Arial</vt:lpstr>
      <vt:lpstr>Calibri</vt:lpstr>
      <vt:lpstr>Courier New</vt:lpstr>
      <vt:lpstr>Lato</vt:lpstr>
      <vt:lpstr>Mont Book</vt:lpstr>
      <vt:lpstr>SFMono-Regular</vt:lpstr>
      <vt:lpstr>Tenorite</vt:lpstr>
      <vt:lpstr>Wingdings</vt:lpstr>
      <vt:lpstr>Geonovum</vt:lpstr>
      <vt:lpstr>OGC API Features</vt:lpstr>
      <vt:lpstr>Agenda</vt:lpstr>
      <vt:lpstr>Why OGC API’s ?</vt:lpstr>
      <vt:lpstr>Belang Geonovum stimuleren OGC-API-gebruik?</vt:lpstr>
      <vt:lpstr>PowerPoint Presentation</vt:lpstr>
      <vt:lpstr>Deployment model voorbeeld – API bouwstenen</vt:lpstr>
      <vt:lpstr>OGC API Common – algemene regels</vt:lpstr>
      <vt:lpstr>Een kijkje naar OGC API Features</vt:lpstr>
      <vt:lpstr>Getting Ready</vt:lpstr>
      <vt:lpstr>Settings up the server</vt:lpstr>
      <vt:lpstr>Running the server</vt:lpstr>
      <vt:lpstr>Running the server</vt:lpstr>
      <vt:lpstr>OK – Ready Player One? Let’s do this</vt:lpstr>
      <vt:lpstr>POST - Create</vt:lpstr>
      <vt:lpstr>POST - Create</vt:lpstr>
      <vt:lpstr>PUT - Replace</vt:lpstr>
      <vt:lpstr>PUT - Replace</vt:lpstr>
      <vt:lpstr>DELETE - Delete</vt:lpstr>
      <vt:lpstr>OPTIONS</vt:lpstr>
      <vt:lpstr>OPTIONS</vt:lpstr>
      <vt:lpstr>PATCH - Update </vt:lpstr>
      <vt:lpstr>PATCH – Update. Schema impositions</vt:lpstr>
      <vt:lpstr>Optimistic Locking</vt:lpstr>
      <vt:lpstr>Optimistic Locking – server side</vt:lpstr>
      <vt:lpstr>Optimistic Locking - Timestamps</vt:lpstr>
      <vt:lpstr>Optimistic Locking - Timestamps</vt:lpstr>
      <vt:lpstr>Optimistic Locking - ETags</vt:lpstr>
      <vt:lpstr>Optimistic Locking – Strong ETags</vt:lpstr>
      <vt:lpstr>Optimistic Locking – Strong ETags</vt:lpstr>
      <vt:lpstr>Optimistic Locking – Strong ETags</vt:lpstr>
      <vt:lpstr>Bonus</vt:lpstr>
      <vt:lpstr>Bedankt!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OGC API standaarden</dc:title>
  <dc:creator>Linda van den Brink</dc:creator>
  <cp:lastModifiedBy>Bart De Lathouwer</cp:lastModifiedBy>
  <cp:revision>18</cp:revision>
  <dcterms:created xsi:type="dcterms:W3CDTF">2023-12-12T13:05:39Z</dcterms:created>
  <dcterms:modified xsi:type="dcterms:W3CDTF">2026-06-17T05:27:59Z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0x010100216A073BBB3FB3429D87D77C40313058</vt:lpwstr>
  </property>
  <property fmtid="{D5CDD505-2E9C-101B-9397-08002B2CF9AE}" pid="3" name="MediaServiceImageTags">
    <vt:lpwstr/>
  </property>
</Properties>
</file>